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grandir" panose="020B0604020202020204" charset="0"/>
      <p:regular r:id="rId22"/>
    </p:embeddedFont>
    <p:embeddedFont>
      <p:font typeface="Agrandir Bold" panose="020B0604020202020204" charset="0"/>
      <p:regular r:id="rId23"/>
    </p:embeddedFont>
    <p:embeddedFont>
      <p:font typeface="Aileron Bold" panose="020B0604020202020204" charset="0"/>
      <p:regular r:id="rId24"/>
    </p:embeddedFont>
    <p:embeddedFont>
      <p:font typeface="Alata" panose="020B0604020202020204" charset="0"/>
      <p:regular r:id="rId25"/>
    </p:embeddedFont>
    <p:embeddedFont>
      <p:font typeface="Gagalin" panose="020B0604020202020204" charset="0"/>
      <p:regular r:id="rId26"/>
    </p:embeddedFont>
    <p:embeddedFont>
      <p:font typeface="Glacial Indifference" panose="020B0604020202020204" charset="0"/>
      <p:regular r:id="rId27"/>
    </p:embeddedFont>
    <p:embeddedFont>
      <p:font typeface="Glacial Indifference Bold" panose="020B0604020202020204" charset="0"/>
      <p:regular r:id="rId28"/>
    </p:embeddedFont>
    <p:embeddedFont>
      <p:font typeface="HK Grotesk" panose="020B0604020202020204" charset="0"/>
      <p:regular r:id="rId29"/>
    </p:embeddedFont>
    <p:embeddedFont>
      <p:font typeface="League Spartan" panose="020B0604020202020204" charset="0"/>
      <p:regular r:id="rId30"/>
    </p:embeddedFont>
    <p:embeddedFont>
      <p:font typeface="Poppins" panose="00000500000000000000" pitchFamily="2" charset="0"/>
      <p:regular r:id="rId31"/>
    </p:embeddedFont>
    <p:embeddedFont>
      <p:font typeface="Poppi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732"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flipH="1">
            <a:off x="1647937" y="1830523"/>
            <a:ext cx="0" cy="3212756"/>
          </a:xfrm>
          <a:prstGeom prst="line">
            <a:avLst/>
          </a:prstGeom>
          <a:ln w="133350" cap="flat">
            <a:solidFill>
              <a:srgbClr val="D15353"/>
            </a:solidFill>
            <a:prstDash val="solid"/>
            <a:headEnd type="none" w="sm" len="sm"/>
            <a:tailEnd type="none" w="sm" len="sm"/>
          </a:ln>
        </p:spPr>
      </p:sp>
      <p:sp>
        <p:nvSpPr>
          <p:cNvPr id="3" name="Freeform 3"/>
          <p:cNvSpPr/>
          <p:nvPr/>
        </p:nvSpPr>
        <p:spPr>
          <a:xfrm rot="6681127" flipV="1">
            <a:off x="5640036" y="2158128"/>
            <a:ext cx="19549414" cy="11658559"/>
          </a:xfrm>
          <a:custGeom>
            <a:avLst/>
            <a:gdLst/>
            <a:ahLst/>
            <a:cxnLst/>
            <a:rect l="l" t="t" r="r" b="b"/>
            <a:pathLst>
              <a:path w="19549414" h="11658559">
                <a:moveTo>
                  <a:pt x="0" y="11658559"/>
                </a:moveTo>
                <a:lnTo>
                  <a:pt x="19549414" y="11658559"/>
                </a:lnTo>
                <a:lnTo>
                  <a:pt x="19549414" y="0"/>
                </a:lnTo>
                <a:lnTo>
                  <a:pt x="0" y="0"/>
                </a:lnTo>
                <a:lnTo>
                  <a:pt x="0" y="1165855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039647" y="1906723"/>
            <a:ext cx="7959250" cy="1276759"/>
          </a:xfrm>
          <a:prstGeom prst="rect">
            <a:avLst/>
          </a:prstGeom>
        </p:spPr>
        <p:txBody>
          <a:bodyPr lIns="0" tIns="0" rIns="0" bIns="0" rtlCol="0" anchor="t">
            <a:spAutoFit/>
          </a:bodyPr>
          <a:lstStyle/>
          <a:p>
            <a:pPr marL="0" lvl="0" indent="0" algn="just">
              <a:lnSpc>
                <a:spcPts val="9807"/>
              </a:lnSpc>
            </a:pPr>
            <a:r>
              <a:rPr lang="en-US" sz="8915">
                <a:solidFill>
                  <a:srgbClr val="253439"/>
                </a:solidFill>
                <a:latin typeface="HK Grotesk"/>
                <a:ea typeface="HK Grotesk"/>
                <a:cs typeface="HK Grotesk"/>
                <a:sym typeface="HK Grotesk"/>
              </a:rPr>
              <a:t>PROJECT</a:t>
            </a:r>
          </a:p>
        </p:txBody>
      </p:sp>
      <p:sp>
        <p:nvSpPr>
          <p:cNvPr id="5" name="TextBox 5"/>
          <p:cNvSpPr txBox="1"/>
          <p:nvPr/>
        </p:nvSpPr>
        <p:spPr>
          <a:xfrm>
            <a:off x="2039647" y="3425435"/>
            <a:ext cx="9496667" cy="1718065"/>
          </a:xfrm>
          <a:prstGeom prst="rect">
            <a:avLst/>
          </a:prstGeom>
        </p:spPr>
        <p:txBody>
          <a:bodyPr lIns="0" tIns="0" rIns="0" bIns="0" rtlCol="0" anchor="t">
            <a:spAutoFit/>
          </a:bodyPr>
          <a:lstStyle/>
          <a:p>
            <a:pPr marL="0" lvl="0" indent="0" algn="just">
              <a:lnSpc>
                <a:spcPts val="13233"/>
              </a:lnSpc>
            </a:pPr>
            <a:r>
              <a:rPr lang="en-US" sz="12030" b="1">
                <a:solidFill>
                  <a:srgbClr val="253439"/>
                </a:solidFill>
                <a:latin typeface="Glacial Indifference Bold"/>
                <a:ea typeface="Glacial Indifference Bold"/>
                <a:cs typeface="Glacial Indifference Bold"/>
                <a:sym typeface="Glacial Indifference Bold"/>
              </a:rPr>
              <a:t>EXHIBITION-1</a:t>
            </a:r>
          </a:p>
        </p:txBody>
      </p:sp>
      <p:sp>
        <p:nvSpPr>
          <p:cNvPr id="6" name="Freeform 6"/>
          <p:cNvSpPr/>
          <p:nvPr/>
        </p:nvSpPr>
        <p:spPr>
          <a:xfrm>
            <a:off x="1714612" y="853225"/>
            <a:ext cx="325035" cy="403543"/>
          </a:xfrm>
          <a:custGeom>
            <a:avLst/>
            <a:gdLst/>
            <a:ahLst/>
            <a:cxnLst/>
            <a:rect l="l" t="t" r="r" b="b"/>
            <a:pathLst>
              <a:path w="325035" h="403543">
                <a:moveTo>
                  <a:pt x="0" y="0"/>
                </a:moveTo>
                <a:lnTo>
                  <a:pt x="325035" y="0"/>
                </a:lnTo>
                <a:lnTo>
                  <a:pt x="325035" y="403543"/>
                </a:lnTo>
                <a:lnTo>
                  <a:pt x="0" y="4035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2363107" y="796075"/>
            <a:ext cx="3406676" cy="408100"/>
          </a:xfrm>
          <a:prstGeom prst="rect">
            <a:avLst/>
          </a:prstGeom>
        </p:spPr>
        <p:txBody>
          <a:bodyPr lIns="0" tIns="0" rIns="0" bIns="0" rtlCol="0" anchor="t">
            <a:spAutoFit/>
          </a:bodyPr>
          <a:lstStyle/>
          <a:p>
            <a:pPr marL="0" lvl="0" indent="0" algn="just">
              <a:lnSpc>
                <a:spcPts val="3231"/>
              </a:lnSpc>
              <a:spcBef>
                <a:spcPct val="0"/>
              </a:spcBef>
            </a:pPr>
            <a:r>
              <a:rPr lang="en-US" sz="2308">
                <a:solidFill>
                  <a:srgbClr val="253439"/>
                </a:solidFill>
                <a:latin typeface="HK Grotesk"/>
                <a:ea typeface="HK Grotesk"/>
                <a:cs typeface="HK Grotesk"/>
                <a:sym typeface="HK Grotesk"/>
              </a:rPr>
              <a:t>GROUP NO. 181</a:t>
            </a:r>
          </a:p>
        </p:txBody>
      </p:sp>
      <p:sp>
        <p:nvSpPr>
          <p:cNvPr id="8" name="TextBox 8"/>
          <p:cNvSpPr txBox="1"/>
          <p:nvPr/>
        </p:nvSpPr>
        <p:spPr>
          <a:xfrm>
            <a:off x="579871" y="7069348"/>
            <a:ext cx="7636830" cy="3029199"/>
          </a:xfrm>
          <a:prstGeom prst="rect">
            <a:avLst/>
          </a:prstGeom>
        </p:spPr>
        <p:txBody>
          <a:bodyPr lIns="0" tIns="0" rIns="0" bIns="0" rtlCol="0" anchor="t">
            <a:spAutoFit/>
          </a:bodyPr>
          <a:lstStyle/>
          <a:p>
            <a:pPr marL="602408" lvl="1" indent="-301204" algn="l">
              <a:lnSpc>
                <a:spcPts val="3906"/>
              </a:lnSpc>
              <a:buFont typeface="Arial"/>
              <a:buChar char="•"/>
            </a:pPr>
            <a:r>
              <a:rPr lang="en-US" sz="2790">
                <a:solidFill>
                  <a:srgbClr val="000000"/>
                </a:solidFill>
                <a:latin typeface="Alata"/>
                <a:ea typeface="Alata"/>
                <a:cs typeface="Alata"/>
                <a:sym typeface="Alata"/>
              </a:rPr>
              <a:t>MRITYUDAMAN DHAKA (23BCE10164)</a:t>
            </a:r>
          </a:p>
          <a:p>
            <a:pPr marL="602408" lvl="1" indent="-301204" algn="l">
              <a:lnSpc>
                <a:spcPts val="3906"/>
              </a:lnSpc>
              <a:buFont typeface="Arial"/>
              <a:buChar char="•"/>
            </a:pPr>
            <a:r>
              <a:rPr lang="en-US" sz="2790">
                <a:solidFill>
                  <a:srgbClr val="000000"/>
                </a:solidFill>
                <a:latin typeface="Alata"/>
                <a:ea typeface="Alata"/>
                <a:cs typeface="Alata"/>
                <a:sym typeface="Alata"/>
              </a:rPr>
              <a:t>RUDRA TRIVEDI (23BCE10181)</a:t>
            </a:r>
          </a:p>
          <a:p>
            <a:pPr marL="602408" lvl="1" indent="-301204" algn="l">
              <a:lnSpc>
                <a:spcPts val="3906"/>
              </a:lnSpc>
              <a:buFont typeface="Arial"/>
              <a:buChar char="•"/>
            </a:pPr>
            <a:r>
              <a:rPr lang="en-US" sz="2790">
                <a:solidFill>
                  <a:srgbClr val="000000"/>
                </a:solidFill>
                <a:latin typeface="Alata"/>
                <a:ea typeface="Alata"/>
                <a:cs typeface="Alata"/>
                <a:sym typeface="Alata"/>
              </a:rPr>
              <a:t>V. ADITYA TEJA (23BCE11755)</a:t>
            </a:r>
          </a:p>
          <a:p>
            <a:pPr marL="602408" lvl="1" indent="-301204" algn="l">
              <a:lnSpc>
                <a:spcPts val="3906"/>
              </a:lnSpc>
              <a:buFont typeface="Arial"/>
              <a:buChar char="•"/>
            </a:pPr>
            <a:r>
              <a:rPr lang="en-US" sz="2790">
                <a:solidFill>
                  <a:srgbClr val="000000"/>
                </a:solidFill>
                <a:latin typeface="Alata"/>
                <a:ea typeface="Alata"/>
                <a:cs typeface="Alata"/>
                <a:sym typeface="Alata"/>
              </a:rPr>
              <a:t>KEYA KALPIT DAVE (23BCE11410)</a:t>
            </a:r>
          </a:p>
          <a:p>
            <a:pPr marL="602408" lvl="1" indent="-301204" algn="l">
              <a:lnSpc>
                <a:spcPts val="3906"/>
              </a:lnSpc>
              <a:buFont typeface="Arial"/>
              <a:buChar char="•"/>
            </a:pPr>
            <a:r>
              <a:rPr lang="en-US" sz="2790">
                <a:solidFill>
                  <a:srgbClr val="000000"/>
                </a:solidFill>
                <a:latin typeface="Alata"/>
                <a:ea typeface="Alata"/>
                <a:cs typeface="Alata"/>
                <a:sym typeface="Alata"/>
              </a:rPr>
              <a:t>SARA MOLLICK (23BCE11454)</a:t>
            </a:r>
          </a:p>
          <a:p>
            <a:pPr algn="l">
              <a:lnSpc>
                <a:spcPts val="4466"/>
              </a:lnSpc>
            </a:pPr>
            <a:endParaRPr lang="en-US" sz="2790">
              <a:solidFill>
                <a:srgbClr val="000000"/>
              </a:solidFill>
              <a:latin typeface="Alata"/>
              <a:ea typeface="Alata"/>
              <a:cs typeface="Alata"/>
              <a:sym typeface="Alata"/>
            </a:endParaRPr>
          </a:p>
        </p:txBody>
      </p:sp>
      <p:sp>
        <p:nvSpPr>
          <p:cNvPr id="9" name="TextBox 9"/>
          <p:cNvSpPr txBox="1"/>
          <p:nvPr/>
        </p:nvSpPr>
        <p:spPr>
          <a:xfrm>
            <a:off x="1028700" y="6250928"/>
            <a:ext cx="3503019" cy="1476086"/>
          </a:xfrm>
          <a:prstGeom prst="rect">
            <a:avLst/>
          </a:prstGeom>
        </p:spPr>
        <p:txBody>
          <a:bodyPr lIns="0" tIns="0" rIns="0" bIns="0" rtlCol="0" anchor="t">
            <a:spAutoFit/>
          </a:bodyPr>
          <a:lstStyle/>
          <a:p>
            <a:pPr algn="ctr">
              <a:lnSpc>
                <a:spcPts val="6193"/>
              </a:lnSpc>
            </a:pPr>
            <a:r>
              <a:rPr lang="en-US" sz="3096" b="1">
                <a:solidFill>
                  <a:srgbClr val="000000"/>
                </a:solidFill>
                <a:latin typeface="Aileron Bold"/>
                <a:ea typeface="Aileron Bold"/>
                <a:cs typeface="Aileron Bold"/>
                <a:sym typeface="Aileron Bold"/>
              </a:rPr>
              <a:t>Group Members :</a:t>
            </a:r>
          </a:p>
          <a:p>
            <a:pPr algn="ctr">
              <a:lnSpc>
                <a:spcPts val="6193"/>
              </a:lnSpc>
              <a:spcBef>
                <a:spcPct val="0"/>
              </a:spcBef>
            </a:pPr>
            <a:endParaRPr lang="en-US" sz="3096" b="1">
              <a:solidFill>
                <a:srgbClr val="000000"/>
              </a:solidFill>
              <a:latin typeface="Aileron Bold"/>
              <a:ea typeface="Aileron Bold"/>
              <a:cs typeface="Aileron Bold"/>
              <a:sym typeface="Aileron Bold"/>
            </a:endParaRPr>
          </a:p>
        </p:txBody>
      </p:sp>
      <p:sp>
        <p:nvSpPr>
          <p:cNvPr id="10" name="TextBox 10"/>
          <p:cNvSpPr txBox="1"/>
          <p:nvPr/>
        </p:nvSpPr>
        <p:spPr>
          <a:xfrm>
            <a:off x="6964227" y="5133975"/>
            <a:ext cx="4321446" cy="1151767"/>
          </a:xfrm>
          <a:prstGeom prst="rect">
            <a:avLst/>
          </a:prstGeom>
        </p:spPr>
        <p:txBody>
          <a:bodyPr lIns="0" tIns="0" rIns="0" bIns="0" rtlCol="0" anchor="t">
            <a:spAutoFit/>
          </a:bodyPr>
          <a:lstStyle/>
          <a:p>
            <a:pPr marL="603786" lvl="1" indent="-301893" algn="l">
              <a:lnSpc>
                <a:spcPts val="4614"/>
              </a:lnSpc>
              <a:buFont typeface="Arial"/>
              <a:buChar char="•"/>
            </a:pPr>
            <a:r>
              <a:rPr lang="en-US" sz="2796">
                <a:solidFill>
                  <a:srgbClr val="000000"/>
                </a:solidFill>
                <a:latin typeface="Alata"/>
                <a:ea typeface="Alata"/>
                <a:cs typeface="Alata"/>
                <a:sym typeface="Alata"/>
              </a:rPr>
              <a:t>Under Supervision of </a:t>
            </a:r>
          </a:p>
          <a:p>
            <a:pPr algn="l">
              <a:lnSpc>
                <a:spcPts val="4779"/>
              </a:lnSpc>
            </a:pPr>
            <a:r>
              <a:rPr lang="en-US" sz="2896">
                <a:solidFill>
                  <a:srgbClr val="000000"/>
                </a:solidFill>
                <a:latin typeface="Alata"/>
                <a:ea typeface="Alata"/>
                <a:cs typeface="Alata"/>
                <a:sym typeface="Alata"/>
              </a:rPr>
              <a:t>     DR. S POONKUNTRAN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800000">
            <a:off x="2411250" y="1468031"/>
            <a:ext cx="13072576" cy="2581834"/>
          </a:xfrm>
          <a:custGeom>
            <a:avLst/>
            <a:gdLst/>
            <a:ahLst/>
            <a:cxnLst/>
            <a:rect l="l" t="t" r="r" b="b"/>
            <a:pathLst>
              <a:path w="13072576" h="2581834">
                <a:moveTo>
                  <a:pt x="0" y="0"/>
                </a:moveTo>
                <a:lnTo>
                  <a:pt x="13072576" y="0"/>
                </a:lnTo>
                <a:lnTo>
                  <a:pt x="13072576" y="2581834"/>
                </a:lnTo>
                <a:lnTo>
                  <a:pt x="0" y="2581834"/>
                </a:lnTo>
                <a:lnTo>
                  <a:pt x="0" y="0"/>
                </a:lnTo>
                <a:close/>
              </a:path>
            </a:pathLst>
          </a:custGeom>
          <a:blipFill>
            <a:blip r:embed="rId2">
              <a:alphaModFix amt="77000"/>
            </a:blip>
            <a:stretch>
              <a:fillRect/>
            </a:stretch>
          </a:blipFill>
        </p:spPr>
      </p:sp>
      <p:sp>
        <p:nvSpPr>
          <p:cNvPr id="3" name="Freeform 3"/>
          <p:cNvSpPr/>
          <p:nvPr/>
        </p:nvSpPr>
        <p:spPr>
          <a:xfrm rot="4607186" flipV="1">
            <a:off x="9935555" y="-1925105"/>
            <a:ext cx="15050346" cy="9958773"/>
          </a:xfrm>
          <a:custGeom>
            <a:avLst/>
            <a:gdLst/>
            <a:ahLst/>
            <a:cxnLst/>
            <a:rect l="l" t="t" r="r" b="b"/>
            <a:pathLst>
              <a:path w="15050346" h="9958773">
                <a:moveTo>
                  <a:pt x="0" y="9958773"/>
                </a:moveTo>
                <a:lnTo>
                  <a:pt x="15050346" y="9958773"/>
                </a:lnTo>
                <a:lnTo>
                  <a:pt x="15050346" y="0"/>
                </a:lnTo>
                <a:lnTo>
                  <a:pt x="0" y="0"/>
                </a:lnTo>
                <a:lnTo>
                  <a:pt x="0" y="995877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368495" flipV="1">
            <a:off x="-4240061" y="3541863"/>
            <a:ext cx="14038586" cy="9289294"/>
          </a:xfrm>
          <a:custGeom>
            <a:avLst/>
            <a:gdLst/>
            <a:ahLst/>
            <a:cxnLst/>
            <a:rect l="l" t="t" r="r" b="b"/>
            <a:pathLst>
              <a:path w="14038586" h="9289294">
                <a:moveTo>
                  <a:pt x="0" y="9289293"/>
                </a:moveTo>
                <a:lnTo>
                  <a:pt x="14038586" y="9289293"/>
                </a:lnTo>
                <a:lnTo>
                  <a:pt x="14038586" y="0"/>
                </a:lnTo>
                <a:lnTo>
                  <a:pt x="0" y="0"/>
                </a:lnTo>
                <a:lnTo>
                  <a:pt x="0" y="928929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2411250" y="6456913"/>
            <a:ext cx="13072576" cy="2581834"/>
          </a:xfrm>
          <a:custGeom>
            <a:avLst/>
            <a:gdLst/>
            <a:ahLst/>
            <a:cxnLst/>
            <a:rect l="l" t="t" r="r" b="b"/>
            <a:pathLst>
              <a:path w="13072576" h="2581834">
                <a:moveTo>
                  <a:pt x="0" y="0"/>
                </a:moveTo>
                <a:lnTo>
                  <a:pt x="13072576" y="0"/>
                </a:lnTo>
                <a:lnTo>
                  <a:pt x="13072576" y="2581834"/>
                </a:lnTo>
                <a:lnTo>
                  <a:pt x="0" y="2581834"/>
                </a:lnTo>
                <a:lnTo>
                  <a:pt x="0" y="0"/>
                </a:lnTo>
                <a:close/>
              </a:path>
            </a:pathLst>
          </a:custGeom>
          <a:blipFill>
            <a:blip r:embed="rId2">
              <a:alphaModFix amt="77000"/>
            </a:blip>
            <a:stretch>
              <a:fillRect/>
            </a:stretch>
          </a:blipFill>
        </p:spPr>
      </p:sp>
      <p:grpSp>
        <p:nvGrpSpPr>
          <p:cNvPr id="6" name="Group 6"/>
          <p:cNvGrpSpPr/>
          <p:nvPr/>
        </p:nvGrpSpPr>
        <p:grpSpPr>
          <a:xfrm>
            <a:off x="2321970" y="2001604"/>
            <a:ext cx="13251136" cy="6441998"/>
            <a:chOff x="0" y="0"/>
            <a:chExt cx="3490011" cy="1696658"/>
          </a:xfrm>
        </p:grpSpPr>
        <p:sp>
          <p:nvSpPr>
            <p:cNvPr id="7" name="Freeform 7"/>
            <p:cNvSpPr/>
            <p:nvPr/>
          </p:nvSpPr>
          <p:spPr>
            <a:xfrm>
              <a:off x="0" y="0"/>
              <a:ext cx="3490011" cy="1696658"/>
            </a:xfrm>
            <a:custGeom>
              <a:avLst/>
              <a:gdLst/>
              <a:ahLst/>
              <a:cxnLst/>
              <a:rect l="l" t="t" r="r" b="b"/>
              <a:pathLst>
                <a:path w="3490011" h="1696658">
                  <a:moveTo>
                    <a:pt x="0" y="0"/>
                  </a:moveTo>
                  <a:lnTo>
                    <a:pt x="3490011" y="0"/>
                  </a:lnTo>
                  <a:lnTo>
                    <a:pt x="3490011" y="1696658"/>
                  </a:lnTo>
                  <a:lnTo>
                    <a:pt x="0" y="1696658"/>
                  </a:lnTo>
                  <a:close/>
                </a:path>
              </a:pathLst>
            </a:custGeom>
            <a:gradFill rotWithShape="1">
              <a:gsLst>
                <a:gs pos="0">
                  <a:srgbClr val="FDF7EF">
                    <a:alpha val="100000"/>
                  </a:srgbClr>
                </a:gs>
                <a:gs pos="100000">
                  <a:srgbClr val="FFFFFF">
                    <a:alpha val="100000"/>
                  </a:srgbClr>
                </a:gs>
              </a:gsLst>
              <a:lin ang="0"/>
            </a:gradFill>
          </p:spPr>
        </p:sp>
        <p:sp>
          <p:nvSpPr>
            <p:cNvPr id="8" name="TextBox 8"/>
            <p:cNvSpPr txBox="1"/>
            <p:nvPr/>
          </p:nvSpPr>
          <p:spPr>
            <a:xfrm>
              <a:off x="0" y="-47625"/>
              <a:ext cx="3490011" cy="1744283"/>
            </a:xfrm>
            <a:prstGeom prst="rect">
              <a:avLst/>
            </a:prstGeom>
          </p:spPr>
          <p:txBody>
            <a:bodyPr lIns="50800" tIns="50800" rIns="50800" bIns="50800" rtlCol="0" anchor="ctr"/>
            <a:lstStyle/>
            <a:p>
              <a:pPr algn="ctr">
                <a:lnSpc>
                  <a:spcPts val="3244"/>
                </a:lnSpc>
              </a:pPr>
              <a:endParaRPr/>
            </a:p>
          </p:txBody>
        </p:sp>
      </p:grpSp>
      <p:sp>
        <p:nvSpPr>
          <p:cNvPr id="9" name="TextBox 9"/>
          <p:cNvSpPr txBox="1"/>
          <p:nvPr/>
        </p:nvSpPr>
        <p:spPr>
          <a:xfrm>
            <a:off x="4241758" y="3095239"/>
            <a:ext cx="9900930" cy="982980"/>
          </a:xfrm>
          <a:prstGeom prst="rect">
            <a:avLst/>
          </a:prstGeom>
        </p:spPr>
        <p:txBody>
          <a:bodyPr lIns="0" tIns="0" rIns="0" bIns="0" rtlCol="0" anchor="t">
            <a:spAutoFit/>
          </a:bodyPr>
          <a:lstStyle/>
          <a:p>
            <a:pPr marL="0" lvl="0" indent="0" algn="ctr">
              <a:lnSpc>
                <a:spcPts val="7590"/>
              </a:lnSpc>
            </a:pPr>
            <a:r>
              <a:rPr lang="en-US" sz="6900">
                <a:solidFill>
                  <a:srgbClr val="253439"/>
                </a:solidFill>
                <a:latin typeface="Gagalin"/>
                <a:ea typeface="Gagalin"/>
                <a:cs typeface="Gagalin"/>
                <a:sym typeface="Gagalin"/>
              </a:rPr>
              <a:t>MARG DARSHAK</a:t>
            </a:r>
          </a:p>
        </p:txBody>
      </p:sp>
      <p:sp>
        <p:nvSpPr>
          <p:cNvPr id="10" name="TextBox 10"/>
          <p:cNvSpPr txBox="1"/>
          <p:nvPr/>
        </p:nvSpPr>
        <p:spPr>
          <a:xfrm>
            <a:off x="3571189" y="4489768"/>
            <a:ext cx="11242068" cy="2026286"/>
          </a:xfrm>
          <a:prstGeom prst="rect">
            <a:avLst/>
          </a:prstGeom>
        </p:spPr>
        <p:txBody>
          <a:bodyPr lIns="0" tIns="0" rIns="0" bIns="0" rtlCol="0" anchor="t">
            <a:spAutoFit/>
          </a:bodyPr>
          <a:lstStyle/>
          <a:p>
            <a:pPr algn="ctr">
              <a:lnSpc>
                <a:spcPts val="3080"/>
              </a:lnSpc>
            </a:pPr>
            <a:endParaRPr/>
          </a:p>
          <a:p>
            <a:pPr algn="ctr">
              <a:lnSpc>
                <a:spcPts val="3080"/>
              </a:lnSpc>
            </a:pPr>
            <a:r>
              <a:rPr lang="en-US" sz="2800" b="1">
                <a:solidFill>
                  <a:srgbClr val="253439"/>
                </a:solidFill>
                <a:latin typeface="Agrandir Bold"/>
                <a:ea typeface="Agrandir Bold"/>
                <a:cs typeface="Agrandir Bold"/>
                <a:sym typeface="Agrandir Bold"/>
              </a:rPr>
              <a:t>AI POWERED PEDESTRIAN ASSISTANT FOR BLIND PEOPLE.</a:t>
            </a:r>
          </a:p>
          <a:p>
            <a:pPr algn="ctr">
              <a:lnSpc>
                <a:spcPts val="3080"/>
              </a:lnSpc>
            </a:pPr>
            <a:endParaRPr lang="en-US" sz="2800" b="1">
              <a:solidFill>
                <a:srgbClr val="253439"/>
              </a:solidFill>
              <a:latin typeface="Agrandir Bold"/>
              <a:ea typeface="Agrandir Bold"/>
              <a:cs typeface="Agrandir Bold"/>
              <a:sym typeface="Agrandir Bold"/>
            </a:endParaRPr>
          </a:p>
          <a:p>
            <a:pPr marL="0" lvl="0" indent="0" algn="ctr">
              <a:lnSpc>
                <a:spcPts val="3080"/>
              </a:lnSpc>
            </a:pPr>
            <a:r>
              <a:rPr lang="en-US" sz="2800" b="1">
                <a:solidFill>
                  <a:srgbClr val="253439"/>
                </a:solidFill>
                <a:latin typeface="Agrandir Bold"/>
                <a:ea typeface="Agrandir Bold"/>
                <a:cs typeface="Agrandir Bold"/>
                <a:sym typeface="Agrandir Bold"/>
              </a:rPr>
              <a:t>-</a:t>
            </a:r>
            <a:r>
              <a:rPr lang="en-US" sz="2800">
                <a:solidFill>
                  <a:srgbClr val="253439"/>
                </a:solidFill>
                <a:latin typeface="Agrandir"/>
                <a:ea typeface="Agrandir"/>
                <a:cs typeface="Agrandir"/>
                <a:sym typeface="Agrandir"/>
              </a:rPr>
              <a:t>EMPOWERING SAFE NAVIGATION FOR BLIND INDIVIDUALS THROUGH INTELLIGENT OBJECT RECOGNITION</a:t>
            </a:r>
          </a:p>
        </p:txBody>
      </p:sp>
      <p:sp>
        <p:nvSpPr>
          <p:cNvPr id="11" name="AutoShape 11"/>
          <p:cNvSpPr/>
          <p:nvPr/>
        </p:nvSpPr>
        <p:spPr>
          <a:xfrm flipH="1">
            <a:off x="6046719" y="7062471"/>
            <a:ext cx="6291008" cy="0"/>
          </a:xfrm>
          <a:prstGeom prst="line">
            <a:avLst/>
          </a:prstGeom>
          <a:ln w="133350" cap="flat">
            <a:solidFill>
              <a:srgbClr val="D15353"/>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800000">
            <a:off x="2411250" y="1468031"/>
            <a:ext cx="13072576" cy="2581834"/>
          </a:xfrm>
          <a:custGeom>
            <a:avLst/>
            <a:gdLst/>
            <a:ahLst/>
            <a:cxnLst/>
            <a:rect l="l" t="t" r="r" b="b"/>
            <a:pathLst>
              <a:path w="13072576" h="2581834">
                <a:moveTo>
                  <a:pt x="0" y="0"/>
                </a:moveTo>
                <a:lnTo>
                  <a:pt x="13072576" y="0"/>
                </a:lnTo>
                <a:lnTo>
                  <a:pt x="13072576" y="2581834"/>
                </a:lnTo>
                <a:lnTo>
                  <a:pt x="0" y="2581834"/>
                </a:lnTo>
                <a:lnTo>
                  <a:pt x="0" y="0"/>
                </a:lnTo>
                <a:close/>
              </a:path>
            </a:pathLst>
          </a:custGeom>
          <a:blipFill>
            <a:blip r:embed="rId2">
              <a:alphaModFix amt="77000"/>
            </a:blip>
            <a:stretch>
              <a:fillRect/>
            </a:stretch>
          </a:blipFill>
        </p:spPr>
      </p:sp>
      <p:sp>
        <p:nvSpPr>
          <p:cNvPr id="3" name="Freeform 3"/>
          <p:cNvSpPr/>
          <p:nvPr/>
        </p:nvSpPr>
        <p:spPr>
          <a:xfrm rot="4607186" flipV="1">
            <a:off x="9935555" y="-1925105"/>
            <a:ext cx="15050346" cy="9958773"/>
          </a:xfrm>
          <a:custGeom>
            <a:avLst/>
            <a:gdLst/>
            <a:ahLst/>
            <a:cxnLst/>
            <a:rect l="l" t="t" r="r" b="b"/>
            <a:pathLst>
              <a:path w="15050346" h="9958773">
                <a:moveTo>
                  <a:pt x="0" y="9958773"/>
                </a:moveTo>
                <a:lnTo>
                  <a:pt x="15050346" y="9958773"/>
                </a:lnTo>
                <a:lnTo>
                  <a:pt x="15050346" y="0"/>
                </a:lnTo>
                <a:lnTo>
                  <a:pt x="0" y="0"/>
                </a:lnTo>
                <a:lnTo>
                  <a:pt x="0" y="995877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368495" flipV="1">
            <a:off x="-4240061" y="3541863"/>
            <a:ext cx="14038586" cy="9289294"/>
          </a:xfrm>
          <a:custGeom>
            <a:avLst/>
            <a:gdLst/>
            <a:ahLst/>
            <a:cxnLst/>
            <a:rect l="l" t="t" r="r" b="b"/>
            <a:pathLst>
              <a:path w="14038586" h="9289294">
                <a:moveTo>
                  <a:pt x="0" y="9289293"/>
                </a:moveTo>
                <a:lnTo>
                  <a:pt x="14038586" y="9289293"/>
                </a:lnTo>
                <a:lnTo>
                  <a:pt x="14038586" y="0"/>
                </a:lnTo>
                <a:lnTo>
                  <a:pt x="0" y="0"/>
                </a:lnTo>
                <a:lnTo>
                  <a:pt x="0" y="928929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2411250" y="6456913"/>
            <a:ext cx="13072576" cy="2581834"/>
          </a:xfrm>
          <a:custGeom>
            <a:avLst/>
            <a:gdLst/>
            <a:ahLst/>
            <a:cxnLst/>
            <a:rect l="l" t="t" r="r" b="b"/>
            <a:pathLst>
              <a:path w="13072576" h="2581834">
                <a:moveTo>
                  <a:pt x="0" y="0"/>
                </a:moveTo>
                <a:lnTo>
                  <a:pt x="13072576" y="0"/>
                </a:lnTo>
                <a:lnTo>
                  <a:pt x="13072576" y="2581834"/>
                </a:lnTo>
                <a:lnTo>
                  <a:pt x="0" y="2581834"/>
                </a:lnTo>
                <a:lnTo>
                  <a:pt x="0" y="0"/>
                </a:lnTo>
                <a:close/>
              </a:path>
            </a:pathLst>
          </a:custGeom>
          <a:blipFill>
            <a:blip r:embed="rId2">
              <a:alphaModFix amt="77000"/>
            </a:blip>
            <a:stretch>
              <a:fillRect/>
            </a:stretch>
          </a:blipFill>
        </p:spPr>
      </p:sp>
      <p:grpSp>
        <p:nvGrpSpPr>
          <p:cNvPr id="6" name="Group 6"/>
          <p:cNvGrpSpPr/>
          <p:nvPr/>
        </p:nvGrpSpPr>
        <p:grpSpPr>
          <a:xfrm>
            <a:off x="2321970" y="2001604"/>
            <a:ext cx="13251136" cy="6441998"/>
            <a:chOff x="0" y="0"/>
            <a:chExt cx="3490011" cy="1696658"/>
          </a:xfrm>
        </p:grpSpPr>
        <p:sp>
          <p:nvSpPr>
            <p:cNvPr id="7" name="Freeform 7"/>
            <p:cNvSpPr/>
            <p:nvPr/>
          </p:nvSpPr>
          <p:spPr>
            <a:xfrm>
              <a:off x="0" y="0"/>
              <a:ext cx="3490011" cy="1696658"/>
            </a:xfrm>
            <a:custGeom>
              <a:avLst/>
              <a:gdLst/>
              <a:ahLst/>
              <a:cxnLst/>
              <a:rect l="l" t="t" r="r" b="b"/>
              <a:pathLst>
                <a:path w="3490011" h="1696658">
                  <a:moveTo>
                    <a:pt x="0" y="0"/>
                  </a:moveTo>
                  <a:lnTo>
                    <a:pt x="3490011" y="0"/>
                  </a:lnTo>
                  <a:lnTo>
                    <a:pt x="3490011" y="1696658"/>
                  </a:lnTo>
                  <a:lnTo>
                    <a:pt x="0" y="1696658"/>
                  </a:lnTo>
                  <a:close/>
                </a:path>
              </a:pathLst>
            </a:custGeom>
            <a:gradFill rotWithShape="1">
              <a:gsLst>
                <a:gs pos="0">
                  <a:srgbClr val="FDF7EF">
                    <a:alpha val="100000"/>
                  </a:srgbClr>
                </a:gs>
                <a:gs pos="100000">
                  <a:srgbClr val="FFFFFF">
                    <a:alpha val="100000"/>
                  </a:srgbClr>
                </a:gs>
              </a:gsLst>
              <a:lin ang="0"/>
            </a:gradFill>
          </p:spPr>
        </p:sp>
        <p:sp>
          <p:nvSpPr>
            <p:cNvPr id="8" name="TextBox 8"/>
            <p:cNvSpPr txBox="1"/>
            <p:nvPr/>
          </p:nvSpPr>
          <p:spPr>
            <a:xfrm>
              <a:off x="0" y="-47625"/>
              <a:ext cx="3490011" cy="1744283"/>
            </a:xfrm>
            <a:prstGeom prst="rect">
              <a:avLst/>
            </a:prstGeom>
          </p:spPr>
          <p:txBody>
            <a:bodyPr lIns="50800" tIns="50800" rIns="50800" bIns="50800" rtlCol="0" anchor="ctr"/>
            <a:lstStyle/>
            <a:p>
              <a:pPr algn="ctr">
                <a:lnSpc>
                  <a:spcPts val="3244"/>
                </a:lnSpc>
              </a:pPr>
              <a:endParaRPr/>
            </a:p>
          </p:txBody>
        </p:sp>
      </p:grpSp>
      <p:sp>
        <p:nvSpPr>
          <p:cNvPr id="9" name="AutoShape 9"/>
          <p:cNvSpPr/>
          <p:nvPr/>
        </p:nvSpPr>
        <p:spPr>
          <a:xfrm>
            <a:off x="8239941" y="2415901"/>
            <a:ext cx="0" cy="5613405"/>
          </a:xfrm>
          <a:prstGeom prst="line">
            <a:avLst/>
          </a:prstGeom>
          <a:ln w="133350" cap="flat">
            <a:solidFill>
              <a:srgbClr val="D15353"/>
            </a:solidFill>
            <a:prstDash val="solid"/>
            <a:headEnd type="none" w="sm" len="sm"/>
            <a:tailEnd type="none" w="sm" len="sm"/>
          </a:ln>
        </p:spPr>
      </p:sp>
      <p:sp>
        <p:nvSpPr>
          <p:cNvPr id="10" name="TextBox 10"/>
          <p:cNvSpPr txBox="1"/>
          <p:nvPr/>
        </p:nvSpPr>
        <p:spPr>
          <a:xfrm>
            <a:off x="8459016" y="1872380"/>
            <a:ext cx="6858443" cy="6188399"/>
          </a:xfrm>
          <a:prstGeom prst="rect">
            <a:avLst/>
          </a:prstGeom>
        </p:spPr>
        <p:txBody>
          <a:bodyPr lIns="0" tIns="0" rIns="0" bIns="0" rtlCol="0" anchor="t">
            <a:spAutoFit/>
          </a:bodyPr>
          <a:lstStyle/>
          <a:p>
            <a:pPr marL="667086" lvl="1" indent="-333543" algn="l">
              <a:lnSpc>
                <a:spcPts val="4480"/>
              </a:lnSpc>
              <a:buFont typeface="Arial"/>
              <a:buChar char="•"/>
            </a:pPr>
            <a:r>
              <a:rPr lang="en-US" sz="3089" spc="-74">
                <a:solidFill>
                  <a:srgbClr val="253439"/>
                </a:solidFill>
                <a:latin typeface="Poppins"/>
                <a:ea typeface="Poppins"/>
                <a:cs typeface="Poppins"/>
                <a:sym typeface="Poppins"/>
              </a:rPr>
              <a:t>Project Objective</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Video Walkthrough</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Needs And Significance</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Methodology And Tools</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Modules</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Current Limitations </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Further possible Improvements</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Long Term Vision</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Expected Impact</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Target Audience</a:t>
            </a:r>
          </a:p>
          <a:p>
            <a:pPr marL="667086" lvl="1" indent="-333543" algn="l">
              <a:lnSpc>
                <a:spcPts val="4480"/>
              </a:lnSpc>
              <a:buFont typeface="Arial"/>
              <a:buChar char="•"/>
            </a:pPr>
            <a:r>
              <a:rPr lang="en-US" sz="3089" spc="-74">
                <a:solidFill>
                  <a:srgbClr val="253439"/>
                </a:solidFill>
                <a:latin typeface="Poppins"/>
                <a:ea typeface="Poppins"/>
                <a:cs typeface="Poppins"/>
                <a:sym typeface="Poppins"/>
              </a:rPr>
              <a:t>Conclusion</a:t>
            </a:r>
          </a:p>
        </p:txBody>
      </p:sp>
      <p:sp>
        <p:nvSpPr>
          <p:cNvPr id="11" name="TextBox 11"/>
          <p:cNvSpPr txBox="1"/>
          <p:nvPr/>
        </p:nvSpPr>
        <p:spPr>
          <a:xfrm>
            <a:off x="2411250" y="4281533"/>
            <a:ext cx="5610416" cy="941070"/>
          </a:xfrm>
          <a:prstGeom prst="rect">
            <a:avLst/>
          </a:prstGeom>
        </p:spPr>
        <p:txBody>
          <a:bodyPr lIns="0" tIns="0" rIns="0" bIns="0" rtlCol="0" anchor="t">
            <a:spAutoFit/>
          </a:bodyPr>
          <a:lstStyle/>
          <a:p>
            <a:pPr marL="0" lvl="0" indent="0" algn="r">
              <a:lnSpc>
                <a:spcPts val="7260"/>
              </a:lnSpc>
            </a:pPr>
            <a:r>
              <a:rPr lang="en-US" sz="6600" dirty="0">
                <a:solidFill>
                  <a:srgbClr val="253439"/>
                </a:solidFill>
                <a:latin typeface="HK Grotesk"/>
                <a:ea typeface="HK Grotesk"/>
                <a:cs typeface="HK Grotesk"/>
                <a:sym typeface="HK Grotesk"/>
              </a:rPr>
              <a:t>TABLE OF</a:t>
            </a:r>
          </a:p>
        </p:txBody>
      </p:sp>
      <p:sp>
        <p:nvSpPr>
          <p:cNvPr id="12" name="TextBox 12"/>
          <p:cNvSpPr txBox="1"/>
          <p:nvPr/>
        </p:nvSpPr>
        <p:spPr>
          <a:xfrm>
            <a:off x="2411250" y="5219700"/>
            <a:ext cx="5610416" cy="1088390"/>
          </a:xfrm>
          <a:prstGeom prst="rect">
            <a:avLst/>
          </a:prstGeom>
        </p:spPr>
        <p:txBody>
          <a:bodyPr lIns="0" tIns="0" rIns="0" bIns="0" rtlCol="0" anchor="t">
            <a:spAutoFit/>
          </a:bodyPr>
          <a:lstStyle/>
          <a:p>
            <a:pPr marL="0" lvl="0" indent="0" algn="r">
              <a:lnSpc>
                <a:spcPts val="8470"/>
              </a:lnSpc>
            </a:pPr>
            <a:r>
              <a:rPr lang="en-US" sz="7700" b="1">
                <a:solidFill>
                  <a:srgbClr val="253439"/>
                </a:solidFill>
                <a:latin typeface="Glacial Indifference Bold"/>
                <a:ea typeface="Glacial Indifference Bold"/>
                <a:cs typeface="Glacial Indifference Bold"/>
                <a:sym typeface="Glacial Indifference Bold"/>
              </a:rPr>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830975" y="5011896"/>
            <a:ext cx="7047871" cy="4246404"/>
            <a:chOff x="0" y="0"/>
            <a:chExt cx="1856229" cy="1118394"/>
          </a:xfrm>
        </p:grpSpPr>
        <p:sp>
          <p:nvSpPr>
            <p:cNvPr id="3" name="Freeform 3"/>
            <p:cNvSpPr/>
            <p:nvPr/>
          </p:nvSpPr>
          <p:spPr>
            <a:xfrm>
              <a:off x="0" y="0"/>
              <a:ext cx="1856229" cy="1118394"/>
            </a:xfrm>
            <a:custGeom>
              <a:avLst/>
              <a:gdLst/>
              <a:ahLst/>
              <a:cxnLst/>
              <a:rect l="l" t="t" r="r" b="b"/>
              <a:pathLst>
                <a:path w="1856229" h="1118394">
                  <a:moveTo>
                    <a:pt x="0" y="0"/>
                  </a:moveTo>
                  <a:lnTo>
                    <a:pt x="1856229" y="0"/>
                  </a:lnTo>
                  <a:lnTo>
                    <a:pt x="1856229" y="1118394"/>
                  </a:lnTo>
                  <a:lnTo>
                    <a:pt x="0" y="1118394"/>
                  </a:lnTo>
                  <a:close/>
                </a:path>
              </a:pathLst>
            </a:custGeom>
            <a:solidFill>
              <a:srgbClr val="D15353"/>
            </a:solidFill>
          </p:spPr>
        </p:sp>
        <p:sp>
          <p:nvSpPr>
            <p:cNvPr id="4" name="TextBox 4"/>
            <p:cNvSpPr txBox="1"/>
            <p:nvPr/>
          </p:nvSpPr>
          <p:spPr>
            <a:xfrm>
              <a:off x="0" y="-47625"/>
              <a:ext cx="1856229" cy="1166019"/>
            </a:xfrm>
            <a:prstGeom prst="rect">
              <a:avLst/>
            </a:prstGeom>
          </p:spPr>
          <p:txBody>
            <a:bodyPr lIns="50800" tIns="50800" rIns="50800" bIns="50800" rtlCol="0" anchor="ctr"/>
            <a:lstStyle/>
            <a:p>
              <a:pPr algn="ctr">
                <a:lnSpc>
                  <a:spcPts val="3244"/>
                </a:lnSpc>
              </a:pPr>
              <a:endParaRPr/>
            </a:p>
          </p:txBody>
        </p:sp>
      </p:grpSp>
      <p:sp>
        <p:nvSpPr>
          <p:cNvPr id="5" name="Freeform 5"/>
          <p:cNvSpPr/>
          <p:nvPr/>
        </p:nvSpPr>
        <p:spPr>
          <a:xfrm rot="6979616">
            <a:off x="-3290381" y="-2404412"/>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1551143" y="1823424"/>
            <a:ext cx="0" cy="1247775"/>
          </a:xfrm>
          <a:prstGeom prst="line">
            <a:avLst/>
          </a:prstGeom>
          <a:ln w="133350" cap="flat">
            <a:solidFill>
              <a:srgbClr val="D15353"/>
            </a:solidFill>
            <a:prstDash val="solid"/>
            <a:headEnd type="none" w="sm" len="sm"/>
            <a:tailEnd type="none" w="sm" len="sm"/>
          </a:ln>
        </p:spPr>
      </p:sp>
      <p:sp>
        <p:nvSpPr>
          <p:cNvPr id="7" name="Freeform 7"/>
          <p:cNvSpPr/>
          <p:nvPr/>
        </p:nvSpPr>
        <p:spPr>
          <a:xfrm>
            <a:off x="10198094" y="3556974"/>
            <a:ext cx="7605474" cy="5260241"/>
          </a:xfrm>
          <a:custGeom>
            <a:avLst/>
            <a:gdLst/>
            <a:ahLst/>
            <a:cxnLst/>
            <a:rect l="l" t="t" r="r" b="b"/>
            <a:pathLst>
              <a:path w="7605474" h="5260241">
                <a:moveTo>
                  <a:pt x="0" y="0"/>
                </a:moveTo>
                <a:lnTo>
                  <a:pt x="7605473" y="0"/>
                </a:lnTo>
                <a:lnTo>
                  <a:pt x="7605473" y="5260240"/>
                </a:lnTo>
                <a:lnTo>
                  <a:pt x="0" y="5260240"/>
                </a:lnTo>
                <a:lnTo>
                  <a:pt x="0" y="0"/>
                </a:lnTo>
                <a:close/>
              </a:path>
            </a:pathLst>
          </a:custGeom>
          <a:blipFill>
            <a:blip r:embed="rId4"/>
            <a:stretch>
              <a:fillRect l="-22379" r="-8617"/>
            </a:stretch>
          </a:blipFill>
        </p:spPr>
      </p:sp>
      <p:sp>
        <p:nvSpPr>
          <p:cNvPr id="8" name="TextBox 8"/>
          <p:cNvSpPr txBox="1"/>
          <p:nvPr/>
        </p:nvSpPr>
        <p:spPr>
          <a:xfrm>
            <a:off x="1851527" y="1909845"/>
            <a:ext cx="7699436" cy="1743075"/>
          </a:xfrm>
          <a:prstGeom prst="rect">
            <a:avLst/>
          </a:prstGeom>
        </p:spPr>
        <p:txBody>
          <a:bodyPr lIns="0" tIns="0" rIns="0" bIns="0" rtlCol="0" anchor="t">
            <a:spAutoFit/>
          </a:bodyPr>
          <a:lstStyle/>
          <a:p>
            <a:pPr algn="l">
              <a:lnSpc>
                <a:spcPts val="6840"/>
              </a:lnSpc>
            </a:pPr>
            <a:r>
              <a:rPr lang="en-US" sz="5700" u="sng" dirty="0">
                <a:solidFill>
                  <a:srgbClr val="253439"/>
                </a:solidFill>
                <a:latin typeface="Alata"/>
                <a:ea typeface="Alata"/>
                <a:cs typeface="Alata"/>
                <a:sym typeface="Alata"/>
              </a:rPr>
              <a:t>PROJECT OBJECTIVE</a:t>
            </a:r>
          </a:p>
          <a:p>
            <a:pPr marL="0" lvl="0" indent="0" algn="l">
              <a:lnSpc>
                <a:spcPts val="6840"/>
              </a:lnSpc>
              <a:spcBef>
                <a:spcPct val="0"/>
              </a:spcBef>
            </a:pPr>
            <a:endParaRPr lang="en-US" sz="5700" u="sng" dirty="0">
              <a:solidFill>
                <a:srgbClr val="253439"/>
              </a:solidFill>
              <a:latin typeface="Alata"/>
              <a:ea typeface="Alata"/>
              <a:cs typeface="Alata"/>
              <a:sym typeface="Alata"/>
            </a:endParaRPr>
          </a:p>
        </p:txBody>
      </p:sp>
      <p:sp>
        <p:nvSpPr>
          <p:cNvPr id="9" name="TextBox 9"/>
          <p:cNvSpPr txBox="1"/>
          <p:nvPr/>
        </p:nvSpPr>
        <p:spPr>
          <a:xfrm>
            <a:off x="2296611" y="3442674"/>
            <a:ext cx="6234050" cy="1029970"/>
          </a:xfrm>
          <a:prstGeom prst="rect">
            <a:avLst/>
          </a:prstGeom>
        </p:spPr>
        <p:txBody>
          <a:bodyPr lIns="0" tIns="0" rIns="0" bIns="0" rtlCol="0" anchor="t">
            <a:spAutoFit/>
          </a:bodyPr>
          <a:lstStyle/>
          <a:p>
            <a:pPr algn="l">
              <a:lnSpc>
                <a:spcPts val="4160"/>
              </a:lnSpc>
            </a:pPr>
            <a:endParaRPr/>
          </a:p>
          <a:p>
            <a:pPr marL="0" lvl="0" indent="0" algn="l">
              <a:lnSpc>
                <a:spcPts val="4160"/>
              </a:lnSpc>
            </a:pPr>
            <a:endParaRPr/>
          </a:p>
        </p:txBody>
      </p:sp>
      <p:sp>
        <p:nvSpPr>
          <p:cNvPr id="10" name="TextBox 10"/>
          <p:cNvSpPr txBox="1"/>
          <p:nvPr/>
        </p:nvSpPr>
        <p:spPr>
          <a:xfrm>
            <a:off x="1551143" y="3233441"/>
            <a:ext cx="2006798" cy="580390"/>
          </a:xfrm>
          <a:prstGeom prst="rect">
            <a:avLst/>
          </a:prstGeom>
        </p:spPr>
        <p:txBody>
          <a:bodyPr lIns="0" tIns="0" rIns="0" bIns="0" rtlCol="0" anchor="t">
            <a:spAutoFit/>
          </a:bodyPr>
          <a:lstStyle/>
          <a:p>
            <a:pPr algn="ctr">
              <a:lnSpc>
                <a:spcPts val="4759"/>
              </a:lnSpc>
              <a:spcBef>
                <a:spcPct val="0"/>
              </a:spcBef>
            </a:pPr>
            <a:r>
              <a:rPr lang="en-US" sz="3399" u="sng">
                <a:solidFill>
                  <a:srgbClr val="253439"/>
                </a:solidFill>
                <a:latin typeface="Alata"/>
                <a:ea typeface="Alata"/>
                <a:cs typeface="Alata"/>
                <a:sym typeface="Alata"/>
              </a:rPr>
              <a:t>Objective:</a:t>
            </a:r>
          </a:p>
        </p:txBody>
      </p:sp>
      <p:sp>
        <p:nvSpPr>
          <p:cNvPr id="11" name="TextBox 11"/>
          <p:cNvSpPr txBox="1"/>
          <p:nvPr/>
        </p:nvSpPr>
        <p:spPr>
          <a:xfrm>
            <a:off x="1518400" y="6571218"/>
            <a:ext cx="2069902" cy="580390"/>
          </a:xfrm>
          <a:prstGeom prst="rect">
            <a:avLst/>
          </a:prstGeom>
        </p:spPr>
        <p:txBody>
          <a:bodyPr lIns="0" tIns="0" rIns="0" bIns="0" rtlCol="0" anchor="t">
            <a:spAutoFit/>
          </a:bodyPr>
          <a:lstStyle/>
          <a:p>
            <a:pPr algn="ctr">
              <a:lnSpc>
                <a:spcPts val="4759"/>
              </a:lnSpc>
              <a:spcBef>
                <a:spcPct val="0"/>
              </a:spcBef>
            </a:pPr>
            <a:r>
              <a:rPr lang="en-US" sz="3399" u="sng">
                <a:solidFill>
                  <a:srgbClr val="253439"/>
                </a:solidFill>
                <a:latin typeface="Alata"/>
                <a:ea typeface="Alata"/>
                <a:cs typeface="Alata"/>
                <a:sym typeface="Alata"/>
              </a:rPr>
              <a:t>Key Goals:</a:t>
            </a:r>
          </a:p>
        </p:txBody>
      </p:sp>
      <p:sp>
        <p:nvSpPr>
          <p:cNvPr id="12" name="TextBox 12"/>
          <p:cNvSpPr txBox="1"/>
          <p:nvPr/>
        </p:nvSpPr>
        <p:spPr>
          <a:xfrm>
            <a:off x="1551143" y="4064241"/>
            <a:ext cx="7592857" cy="1847685"/>
          </a:xfrm>
          <a:prstGeom prst="rect">
            <a:avLst/>
          </a:prstGeom>
        </p:spPr>
        <p:txBody>
          <a:bodyPr lIns="0" tIns="0" rIns="0" bIns="0" rtlCol="0" anchor="t">
            <a:spAutoFit/>
          </a:bodyPr>
          <a:lstStyle/>
          <a:p>
            <a:pPr algn="l">
              <a:lnSpc>
                <a:spcPts val="3684"/>
              </a:lnSpc>
              <a:spcBef>
                <a:spcPct val="0"/>
              </a:spcBef>
            </a:pPr>
            <a:r>
              <a:rPr lang="en-US" sz="2631" dirty="0">
                <a:solidFill>
                  <a:srgbClr val="253439"/>
                </a:solidFill>
                <a:latin typeface="Alata"/>
                <a:ea typeface="Alata"/>
                <a:cs typeface="Alata"/>
                <a:sym typeface="Alata"/>
              </a:rPr>
              <a:t>To develop a navigation aid for visually impaired individuals that provides real-time obstacle detection and audio guidance using AI and computer vision.</a:t>
            </a:r>
          </a:p>
        </p:txBody>
      </p:sp>
      <p:sp>
        <p:nvSpPr>
          <p:cNvPr id="13" name="TextBox 13"/>
          <p:cNvSpPr txBox="1"/>
          <p:nvPr/>
        </p:nvSpPr>
        <p:spPr>
          <a:xfrm>
            <a:off x="1301952" y="7316073"/>
            <a:ext cx="7633041" cy="1847723"/>
          </a:xfrm>
          <a:prstGeom prst="rect">
            <a:avLst/>
          </a:prstGeom>
        </p:spPr>
        <p:txBody>
          <a:bodyPr lIns="0" tIns="0" rIns="0" bIns="0" rtlCol="0" anchor="t">
            <a:spAutoFit/>
          </a:bodyPr>
          <a:lstStyle/>
          <a:p>
            <a:pPr marL="567818" lvl="1" indent="-283909" algn="l">
              <a:lnSpc>
                <a:spcPts val="3682"/>
              </a:lnSpc>
              <a:buAutoNum type="arabicPeriod"/>
            </a:pPr>
            <a:r>
              <a:rPr lang="en-US" sz="2630">
                <a:solidFill>
                  <a:srgbClr val="253439"/>
                </a:solidFill>
                <a:latin typeface="Alata"/>
                <a:ea typeface="Alata"/>
                <a:cs typeface="Alata"/>
                <a:sym typeface="Alata"/>
              </a:rPr>
              <a:t> Enable independent and safe mobility.</a:t>
            </a:r>
          </a:p>
          <a:p>
            <a:pPr marL="567818" lvl="1" indent="-283909" algn="l">
              <a:lnSpc>
                <a:spcPts val="3682"/>
              </a:lnSpc>
              <a:buAutoNum type="arabicPeriod"/>
            </a:pPr>
            <a:r>
              <a:rPr lang="en-US" sz="2630">
                <a:solidFill>
                  <a:srgbClr val="253439"/>
                </a:solidFill>
                <a:latin typeface="Alata"/>
                <a:ea typeface="Alata"/>
                <a:cs typeface="Alata"/>
                <a:sym typeface="Alata"/>
              </a:rPr>
              <a:t> Deliver intuitive and accessible guidance.</a:t>
            </a:r>
          </a:p>
          <a:p>
            <a:pPr marL="567818" lvl="1" indent="-283909" algn="l">
              <a:lnSpc>
                <a:spcPts val="3682"/>
              </a:lnSpc>
              <a:buAutoNum type="arabicPeriod"/>
            </a:pPr>
            <a:r>
              <a:rPr lang="en-US" sz="2630">
                <a:solidFill>
                  <a:srgbClr val="253439"/>
                </a:solidFill>
                <a:latin typeface="Alata"/>
                <a:ea typeface="Alata"/>
                <a:cs typeface="Alata"/>
                <a:sym typeface="Alata"/>
              </a:rPr>
              <a:t> Use cost-effective technology for widespread  adoption.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479759" y="416977"/>
            <a:ext cx="17328483" cy="9453047"/>
            <a:chOff x="0" y="0"/>
            <a:chExt cx="3783199" cy="2063813"/>
          </a:xfrm>
        </p:grpSpPr>
        <p:sp>
          <p:nvSpPr>
            <p:cNvPr id="3" name="Freeform 3"/>
            <p:cNvSpPr/>
            <p:nvPr/>
          </p:nvSpPr>
          <p:spPr>
            <a:xfrm>
              <a:off x="0" y="0"/>
              <a:ext cx="3783199" cy="2063813"/>
            </a:xfrm>
            <a:custGeom>
              <a:avLst/>
              <a:gdLst/>
              <a:ahLst/>
              <a:cxnLst/>
              <a:rect l="l" t="t" r="r" b="b"/>
              <a:pathLst>
                <a:path w="3783199" h="2063813">
                  <a:moveTo>
                    <a:pt x="0" y="0"/>
                  </a:moveTo>
                  <a:lnTo>
                    <a:pt x="3783199" y="0"/>
                  </a:lnTo>
                  <a:lnTo>
                    <a:pt x="3783199" y="2063813"/>
                  </a:lnTo>
                  <a:lnTo>
                    <a:pt x="0" y="2063813"/>
                  </a:lnTo>
                  <a:close/>
                </a:path>
              </a:pathLst>
            </a:custGeom>
            <a:solidFill>
              <a:srgbClr val="253439"/>
            </a:solidFill>
          </p:spPr>
          <p:txBody>
            <a:bodyPr/>
            <a:lstStyle/>
            <a:p>
              <a:endParaRPr lang="en-IN"/>
            </a:p>
          </p:txBody>
        </p:sp>
        <p:sp>
          <p:nvSpPr>
            <p:cNvPr id="4" name="TextBox 4"/>
            <p:cNvSpPr txBox="1"/>
            <p:nvPr/>
          </p:nvSpPr>
          <p:spPr>
            <a:xfrm>
              <a:off x="0" y="-47625"/>
              <a:ext cx="3783199" cy="2111438"/>
            </a:xfrm>
            <a:prstGeom prst="rect">
              <a:avLst/>
            </a:prstGeom>
          </p:spPr>
          <p:txBody>
            <a:bodyPr lIns="50800" tIns="50800" rIns="50800" bIns="50800" rtlCol="0" anchor="ctr"/>
            <a:lstStyle/>
            <a:p>
              <a:pPr algn="ctr">
                <a:lnSpc>
                  <a:spcPts val="3244"/>
                </a:lnSpc>
              </a:pPr>
              <a:endParaRPr/>
            </a:p>
          </p:txBody>
        </p:sp>
      </p:grpSp>
      <p:sp>
        <p:nvSpPr>
          <p:cNvPr id="5" name="Freeform 5"/>
          <p:cNvSpPr/>
          <p:nvPr/>
        </p:nvSpPr>
        <p:spPr>
          <a:xfrm>
            <a:off x="12455601" y="-5625855"/>
            <a:ext cx="10674613" cy="9915287"/>
          </a:xfrm>
          <a:custGeom>
            <a:avLst/>
            <a:gdLst/>
            <a:ahLst/>
            <a:cxnLst/>
            <a:rect l="l" t="t" r="r" b="b"/>
            <a:pathLst>
              <a:path w="10674613" h="9915287">
                <a:moveTo>
                  <a:pt x="0" y="0"/>
                </a:moveTo>
                <a:lnTo>
                  <a:pt x="10674613" y="0"/>
                </a:lnTo>
                <a:lnTo>
                  <a:pt x="10674613" y="9915287"/>
                </a:lnTo>
                <a:lnTo>
                  <a:pt x="0" y="9915287"/>
                </a:lnTo>
                <a:lnTo>
                  <a:pt x="0" y="0"/>
                </a:lnTo>
                <a:close/>
              </a:path>
            </a:pathLst>
          </a:custGeom>
          <a:blipFill>
            <a:blip r:embed="rId2">
              <a:extLst>
                <a:ext uri="{96DAC541-7B7A-43D3-8B79-37D633B846F1}">
                  <asvg:svgBlip xmlns:asvg="http://schemas.microsoft.com/office/drawing/2016/SVG/main" r:embed="rId3"/>
                </a:ext>
              </a:extLst>
            </a:blip>
            <a:stretch>
              <a:fillRect l="-40376"/>
            </a:stretch>
          </a:blipFill>
        </p:spPr>
      </p:sp>
      <p:sp>
        <p:nvSpPr>
          <p:cNvPr id="6" name="Freeform 6"/>
          <p:cNvSpPr/>
          <p:nvPr/>
        </p:nvSpPr>
        <p:spPr>
          <a:xfrm rot="-9077721">
            <a:off x="-5255947" y="5434483"/>
            <a:ext cx="9429146" cy="8608194"/>
          </a:xfrm>
          <a:custGeom>
            <a:avLst/>
            <a:gdLst/>
            <a:ahLst/>
            <a:cxnLst/>
            <a:rect l="l" t="t" r="r" b="b"/>
            <a:pathLst>
              <a:path w="9429146" h="8608194">
                <a:moveTo>
                  <a:pt x="0" y="0"/>
                </a:moveTo>
                <a:lnTo>
                  <a:pt x="9429146" y="0"/>
                </a:lnTo>
                <a:lnTo>
                  <a:pt x="9429146" y="8608195"/>
                </a:lnTo>
                <a:lnTo>
                  <a:pt x="0" y="8608195"/>
                </a:lnTo>
                <a:lnTo>
                  <a:pt x="0" y="0"/>
                </a:lnTo>
                <a:close/>
              </a:path>
            </a:pathLst>
          </a:custGeom>
          <a:blipFill>
            <a:blip r:embed="rId2">
              <a:extLst>
                <a:ext uri="{96DAC541-7B7A-43D3-8B79-37D633B846F1}">
                  <asvg:svgBlip xmlns:asvg="http://schemas.microsoft.com/office/drawing/2016/SVG/main" r:embed="rId3"/>
                </a:ext>
              </a:extLst>
            </a:blip>
            <a:stretch>
              <a:fillRect l="-37968"/>
            </a:stretch>
          </a:blipFill>
        </p:spPr>
      </p:sp>
      <p:grpSp>
        <p:nvGrpSpPr>
          <p:cNvPr id="9" name="Group 9"/>
          <p:cNvGrpSpPr/>
          <p:nvPr/>
        </p:nvGrpSpPr>
        <p:grpSpPr>
          <a:xfrm>
            <a:off x="701553" y="419291"/>
            <a:ext cx="8259370" cy="2101024"/>
            <a:chOff x="0" y="0"/>
            <a:chExt cx="11012493" cy="2801366"/>
          </a:xfrm>
        </p:grpSpPr>
        <p:sp>
          <p:nvSpPr>
            <p:cNvPr id="10" name="AutoShape 10"/>
            <p:cNvSpPr/>
            <p:nvPr/>
          </p:nvSpPr>
          <p:spPr>
            <a:xfrm flipV="1">
              <a:off x="88900" y="0"/>
              <a:ext cx="0" cy="2801366"/>
            </a:xfrm>
            <a:prstGeom prst="line">
              <a:avLst/>
            </a:prstGeom>
            <a:ln w="177800" cap="flat">
              <a:solidFill>
                <a:srgbClr val="D15353"/>
              </a:solidFill>
              <a:prstDash val="solid"/>
              <a:headEnd type="none" w="sm" len="sm"/>
              <a:tailEnd type="none" w="sm" len="sm"/>
            </a:ln>
          </p:spPr>
        </p:sp>
        <p:sp>
          <p:nvSpPr>
            <p:cNvPr id="11" name="TextBox 11"/>
            <p:cNvSpPr txBox="1"/>
            <p:nvPr/>
          </p:nvSpPr>
          <p:spPr>
            <a:xfrm>
              <a:off x="466072" y="1281658"/>
              <a:ext cx="10546421" cy="1226820"/>
            </a:xfrm>
            <a:prstGeom prst="rect">
              <a:avLst/>
            </a:prstGeom>
          </p:spPr>
          <p:txBody>
            <a:bodyPr lIns="0" tIns="0" rIns="0" bIns="0" rtlCol="0" anchor="t">
              <a:spAutoFit/>
            </a:bodyPr>
            <a:lstStyle/>
            <a:p>
              <a:pPr algn="l">
                <a:lnSpc>
                  <a:spcPts val="6600"/>
                </a:lnSpc>
              </a:pPr>
              <a:r>
                <a:rPr lang="en-US" sz="6600" b="1" spc="772" dirty="0">
                  <a:solidFill>
                    <a:srgbClr val="FFFFFF"/>
                  </a:solidFill>
                  <a:latin typeface="Glacial Indifference Bold"/>
                  <a:ea typeface="Glacial Indifference Bold"/>
                  <a:cs typeface="Glacial Indifference Bold"/>
                  <a:sym typeface="Glacial Indifference Bold"/>
                </a:rPr>
                <a:t>WALK THROUGH</a:t>
              </a:r>
            </a:p>
          </p:txBody>
        </p:sp>
        <p:sp>
          <p:nvSpPr>
            <p:cNvPr id="12" name="TextBox 12"/>
            <p:cNvSpPr txBox="1"/>
            <p:nvPr/>
          </p:nvSpPr>
          <p:spPr>
            <a:xfrm>
              <a:off x="466072" y="105850"/>
              <a:ext cx="7703253" cy="1061508"/>
            </a:xfrm>
            <a:prstGeom prst="rect">
              <a:avLst/>
            </a:prstGeom>
          </p:spPr>
          <p:txBody>
            <a:bodyPr lIns="0" tIns="0" rIns="0" bIns="0" rtlCol="0" anchor="t">
              <a:spAutoFit/>
            </a:bodyPr>
            <a:lstStyle/>
            <a:p>
              <a:pPr marL="0" lvl="0" indent="0" algn="l">
                <a:lnSpc>
                  <a:spcPts val="6049"/>
                </a:lnSpc>
              </a:pPr>
              <a:r>
                <a:rPr lang="en-US" sz="5499">
                  <a:solidFill>
                    <a:srgbClr val="FFFFFF"/>
                  </a:solidFill>
                  <a:latin typeface="HK Grotesk"/>
                  <a:ea typeface="HK Grotesk"/>
                  <a:cs typeface="HK Grotesk"/>
                  <a:sym typeface="HK Grotesk"/>
                </a:rPr>
                <a:t>VIDEO</a:t>
              </a:r>
            </a:p>
          </p:txBody>
        </p:sp>
      </p:grpSp>
      <p:sp>
        <p:nvSpPr>
          <p:cNvPr id="8" name="TextBox 7">
            <a:extLst>
              <a:ext uri="{FF2B5EF4-FFF2-40B4-BE49-F238E27FC236}">
                <a16:creationId xmlns:a16="http://schemas.microsoft.com/office/drawing/2014/main" id="{DB6C050E-4A0A-AB0E-F414-0C7BD6E450FC}"/>
              </a:ext>
            </a:extLst>
          </p:cNvPr>
          <p:cNvSpPr txBox="1"/>
          <p:nvPr/>
        </p:nvSpPr>
        <p:spPr>
          <a:xfrm>
            <a:off x="7102928" y="4654039"/>
            <a:ext cx="4082143" cy="991362"/>
          </a:xfrm>
          <a:prstGeom prst="rect">
            <a:avLst/>
          </a:prstGeom>
          <a:noFill/>
        </p:spPr>
        <p:txBody>
          <a:bodyPr wrap="square">
            <a:spAutoFit/>
          </a:bodyPr>
          <a:lstStyle/>
          <a:p>
            <a:pPr algn="ctr">
              <a:lnSpc>
                <a:spcPts val="3684"/>
              </a:lnSpc>
              <a:spcBef>
                <a:spcPct val="0"/>
              </a:spcBef>
            </a:pPr>
            <a:r>
              <a:rPr lang="en-US" sz="2200" b="1" u="sng" dirty="0">
                <a:solidFill>
                  <a:schemeClr val="bg1"/>
                </a:solidFill>
                <a:latin typeface="Alata"/>
                <a:ea typeface="Alata"/>
                <a:cs typeface="Alata"/>
                <a:sym typeface="Alata"/>
              </a:rPr>
              <a:t>Please find the attachment video file in the ZIP file</a:t>
            </a:r>
            <a:endParaRPr lang="en-US" sz="2200" b="1" u="sng" dirty="0">
              <a:solidFill>
                <a:srgbClr val="253439"/>
              </a:solidFill>
              <a:latin typeface="Alata"/>
              <a:ea typeface="Alata"/>
              <a:cs typeface="Alata"/>
              <a:sym typeface="Alat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sp>
        <p:nvSpPr>
          <p:cNvPr id="2" name="Freeform 2"/>
          <p:cNvSpPr/>
          <p:nvPr/>
        </p:nvSpPr>
        <p:spPr>
          <a:xfrm rot="3791821">
            <a:off x="-4090527" y="1974085"/>
            <a:ext cx="14579653" cy="8694775"/>
          </a:xfrm>
          <a:custGeom>
            <a:avLst/>
            <a:gdLst/>
            <a:ahLst/>
            <a:cxnLst/>
            <a:rect l="l" t="t" r="r" b="b"/>
            <a:pathLst>
              <a:path w="14579653" h="8694775">
                <a:moveTo>
                  <a:pt x="0" y="0"/>
                </a:moveTo>
                <a:lnTo>
                  <a:pt x="14579652" y="0"/>
                </a:lnTo>
                <a:lnTo>
                  <a:pt x="14579652" y="8694775"/>
                </a:lnTo>
                <a:lnTo>
                  <a:pt x="0" y="86947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FDF7EF">
                    <a:alpha val="100000"/>
                  </a:srgbClr>
                </a:gs>
                <a:gs pos="100000">
                  <a:srgbClr val="FFFFFF">
                    <a:alpha val="100000"/>
                  </a:srgbClr>
                </a:gs>
              </a:gsLst>
              <a:lin ang="0"/>
            </a:gradFill>
          </p:spPr>
        </p:sp>
        <p:sp>
          <p:nvSpPr>
            <p:cNvPr id="5" name="TextBox 5"/>
            <p:cNvSpPr txBox="1"/>
            <p:nvPr/>
          </p:nvSpPr>
          <p:spPr>
            <a:xfrm>
              <a:off x="0" y="9525"/>
              <a:ext cx="4816593" cy="2699808"/>
            </a:xfrm>
            <a:prstGeom prst="rect">
              <a:avLst/>
            </a:prstGeom>
          </p:spPr>
          <p:txBody>
            <a:bodyPr lIns="50800" tIns="50800" rIns="50800" bIns="50800" rtlCol="0" anchor="ctr"/>
            <a:lstStyle/>
            <a:p>
              <a:pPr algn="ctr">
                <a:lnSpc>
                  <a:spcPts val="1869"/>
                </a:lnSpc>
              </a:pPr>
              <a:endParaRPr/>
            </a:p>
            <a:p>
              <a:pPr algn="ctr">
                <a:lnSpc>
                  <a:spcPts val="1869"/>
                </a:lnSpc>
              </a:pPr>
              <a:endParaRPr/>
            </a:p>
            <a:p>
              <a:pPr algn="ctr">
                <a:lnSpc>
                  <a:spcPts val="1869"/>
                </a:lnSpc>
              </a:pPr>
              <a:endParaRPr/>
            </a:p>
            <a:p>
              <a:pPr algn="ctr">
                <a:lnSpc>
                  <a:spcPts val="1869"/>
                </a:lnSpc>
              </a:pPr>
              <a:endParaRPr/>
            </a:p>
          </p:txBody>
        </p:sp>
      </p:grpSp>
      <p:sp>
        <p:nvSpPr>
          <p:cNvPr id="6" name="AutoShape 6"/>
          <p:cNvSpPr/>
          <p:nvPr/>
        </p:nvSpPr>
        <p:spPr>
          <a:xfrm flipV="1">
            <a:off x="1028700" y="9738236"/>
            <a:ext cx="16230600" cy="19050"/>
          </a:xfrm>
          <a:prstGeom prst="line">
            <a:avLst/>
          </a:prstGeom>
          <a:ln w="38100" cap="flat">
            <a:solidFill>
              <a:srgbClr val="D15353"/>
            </a:solidFill>
            <a:prstDash val="solid"/>
            <a:headEnd type="oval" w="lg" len="lg"/>
            <a:tailEnd type="oval" w="lg" len="lg"/>
          </a:ln>
        </p:spPr>
      </p:sp>
      <p:sp>
        <p:nvSpPr>
          <p:cNvPr id="7" name="AutoShape 7"/>
          <p:cNvSpPr/>
          <p:nvPr/>
        </p:nvSpPr>
        <p:spPr>
          <a:xfrm flipV="1">
            <a:off x="12167811" y="2033217"/>
            <a:ext cx="0" cy="7190741"/>
          </a:xfrm>
          <a:prstGeom prst="line">
            <a:avLst/>
          </a:prstGeom>
          <a:ln w="38100" cap="flat">
            <a:solidFill>
              <a:srgbClr val="D15353"/>
            </a:solidFill>
            <a:prstDash val="sysDash"/>
            <a:headEnd type="none" w="sm" len="sm"/>
            <a:tailEnd type="none" w="sm" len="sm"/>
          </a:ln>
        </p:spPr>
      </p:sp>
      <p:sp>
        <p:nvSpPr>
          <p:cNvPr id="8" name="AutoShape 8"/>
          <p:cNvSpPr/>
          <p:nvPr/>
        </p:nvSpPr>
        <p:spPr>
          <a:xfrm flipV="1">
            <a:off x="6273061" y="2039728"/>
            <a:ext cx="0" cy="7220122"/>
          </a:xfrm>
          <a:prstGeom prst="line">
            <a:avLst/>
          </a:prstGeom>
          <a:ln w="38100" cap="flat">
            <a:solidFill>
              <a:srgbClr val="D15353"/>
            </a:solidFill>
            <a:prstDash val="sysDash"/>
            <a:headEnd type="none" w="sm" len="sm"/>
            <a:tailEnd type="none" w="sm" len="sm"/>
          </a:ln>
        </p:spPr>
      </p:sp>
      <p:sp>
        <p:nvSpPr>
          <p:cNvPr id="9" name="TextBox 9"/>
          <p:cNvSpPr txBox="1"/>
          <p:nvPr/>
        </p:nvSpPr>
        <p:spPr>
          <a:xfrm>
            <a:off x="6428823" y="3109507"/>
            <a:ext cx="5583226" cy="4952365"/>
          </a:xfrm>
          <a:prstGeom prst="rect">
            <a:avLst/>
          </a:prstGeom>
        </p:spPr>
        <p:txBody>
          <a:bodyPr lIns="0" tIns="0" rIns="0" bIns="0" rtlCol="0" anchor="t">
            <a:spAutoFit/>
          </a:bodyPr>
          <a:lstStyle/>
          <a:p>
            <a:pPr algn="ctr">
              <a:lnSpc>
                <a:spcPts val="3920"/>
              </a:lnSpc>
            </a:pPr>
            <a:r>
              <a:rPr lang="en-US" sz="2450">
                <a:solidFill>
                  <a:srgbClr val="000000"/>
                </a:solidFill>
                <a:latin typeface="Poppins"/>
                <a:ea typeface="Poppins"/>
                <a:cs typeface="Poppins"/>
                <a:sym typeface="Poppins"/>
              </a:rPr>
              <a:t>The project prioritizes creating a safer environment for visually impaired individuals by significantly minimizing the risks of accidents and injuries. Through real-time obstacle detection and alerts, Marg Darshak helps users proactively avoid hazards, ensuring a secure and stress-free navigation experience.</a:t>
            </a:r>
          </a:p>
        </p:txBody>
      </p:sp>
      <p:sp>
        <p:nvSpPr>
          <p:cNvPr id="10" name="Freeform 10"/>
          <p:cNvSpPr/>
          <p:nvPr/>
        </p:nvSpPr>
        <p:spPr>
          <a:xfrm rot="2608389">
            <a:off x="13277560" y="-238678"/>
            <a:ext cx="7772510" cy="4380869"/>
          </a:xfrm>
          <a:custGeom>
            <a:avLst/>
            <a:gdLst/>
            <a:ahLst/>
            <a:cxnLst/>
            <a:rect l="l" t="t" r="r" b="b"/>
            <a:pathLst>
              <a:path w="7772510" h="4380869">
                <a:moveTo>
                  <a:pt x="0" y="0"/>
                </a:moveTo>
                <a:lnTo>
                  <a:pt x="7772510" y="0"/>
                </a:lnTo>
                <a:lnTo>
                  <a:pt x="7772510" y="4380869"/>
                </a:lnTo>
                <a:lnTo>
                  <a:pt x="0" y="4380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4173006" y="771472"/>
            <a:ext cx="9941988" cy="804545"/>
          </a:xfrm>
          <a:prstGeom prst="rect">
            <a:avLst/>
          </a:prstGeom>
        </p:spPr>
        <p:txBody>
          <a:bodyPr lIns="0" tIns="0" rIns="0" bIns="0" rtlCol="0" anchor="t">
            <a:spAutoFit/>
          </a:bodyPr>
          <a:lstStyle/>
          <a:p>
            <a:pPr algn="just">
              <a:lnSpc>
                <a:spcPts val="6160"/>
              </a:lnSpc>
            </a:pPr>
            <a:r>
              <a:rPr lang="en-US" sz="5600" u="sng">
                <a:solidFill>
                  <a:srgbClr val="000000"/>
                </a:solidFill>
                <a:latin typeface="Alata"/>
                <a:ea typeface="Alata"/>
                <a:cs typeface="Alata"/>
                <a:sym typeface="Alata"/>
              </a:rPr>
              <a:t>NEEDS AND SIGNIFICANCE</a:t>
            </a:r>
          </a:p>
        </p:txBody>
      </p:sp>
      <p:sp>
        <p:nvSpPr>
          <p:cNvPr id="12" name="TextBox 12"/>
          <p:cNvSpPr txBox="1"/>
          <p:nvPr/>
        </p:nvSpPr>
        <p:spPr>
          <a:xfrm>
            <a:off x="1441916" y="2228989"/>
            <a:ext cx="4164395"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lata"/>
                <a:ea typeface="Alata"/>
                <a:cs typeface="Alata"/>
                <a:sym typeface="Alata"/>
              </a:rPr>
              <a:t>Improved Mobility</a:t>
            </a:r>
          </a:p>
        </p:txBody>
      </p:sp>
      <p:sp>
        <p:nvSpPr>
          <p:cNvPr id="13" name="TextBox 13"/>
          <p:cNvSpPr txBox="1"/>
          <p:nvPr/>
        </p:nvSpPr>
        <p:spPr>
          <a:xfrm>
            <a:off x="1028700" y="3040427"/>
            <a:ext cx="4818653" cy="6438265"/>
          </a:xfrm>
          <a:prstGeom prst="rect">
            <a:avLst/>
          </a:prstGeom>
        </p:spPr>
        <p:txBody>
          <a:bodyPr lIns="0" tIns="0" rIns="0" bIns="0" rtlCol="0" anchor="t">
            <a:spAutoFit/>
          </a:bodyPr>
          <a:lstStyle/>
          <a:p>
            <a:pPr algn="ctr">
              <a:lnSpc>
                <a:spcPts val="3920"/>
              </a:lnSpc>
            </a:pPr>
            <a:r>
              <a:rPr lang="en-US" sz="2450">
                <a:solidFill>
                  <a:srgbClr val="000000"/>
                </a:solidFill>
                <a:latin typeface="Poppins"/>
                <a:ea typeface="Poppins"/>
                <a:cs typeface="Poppins"/>
                <a:sym typeface="Poppins"/>
              </a:rPr>
              <a:t>Marg Darshak is designed to empower visually impaired individuals by enhancing their ability to navigate unfamiliar surroundings with independence and ease. By facilitating smoother movement, the project enables users to approach daily activities and new environments with greater confidence, fostering a sense of freedom and self-reliance.</a:t>
            </a:r>
          </a:p>
        </p:txBody>
      </p:sp>
      <p:sp>
        <p:nvSpPr>
          <p:cNvPr id="14" name="TextBox 14"/>
          <p:cNvSpPr txBox="1"/>
          <p:nvPr/>
        </p:nvSpPr>
        <p:spPr>
          <a:xfrm>
            <a:off x="7516713" y="2229911"/>
            <a:ext cx="3254573"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lata"/>
                <a:ea typeface="Alata"/>
                <a:cs typeface="Alata"/>
                <a:sym typeface="Alata"/>
              </a:rPr>
              <a:t>Enhanced Safety</a:t>
            </a:r>
          </a:p>
        </p:txBody>
      </p:sp>
      <p:sp>
        <p:nvSpPr>
          <p:cNvPr id="15" name="TextBox 15"/>
          <p:cNvSpPr txBox="1"/>
          <p:nvPr/>
        </p:nvSpPr>
        <p:spPr>
          <a:xfrm>
            <a:off x="13415586" y="2228989"/>
            <a:ext cx="3015020"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lata"/>
                <a:ea typeface="Alata"/>
                <a:cs typeface="Alata"/>
                <a:sym typeface="Alata"/>
              </a:rPr>
              <a:t>Social Inculsion</a:t>
            </a:r>
          </a:p>
        </p:txBody>
      </p:sp>
      <p:sp>
        <p:nvSpPr>
          <p:cNvPr id="16" name="TextBox 16"/>
          <p:cNvSpPr txBox="1"/>
          <p:nvPr/>
        </p:nvSpPr>
        <p:spPr>
          <a:xfrm>
            <a:off x="12386886" y="3109507"/>
            <a:ext cx="4872414" cy="5942965"/>
          </a:xfrm>
          <a:prstGeom prst="rect">
            <a:avLst/>
          </a:prstGeom>
        </p:spPr>
        <p:txBody>
          <a:bodyPr lIns="0" tIns="0" rIns="0" bIns="0" rtlCol="0" anchor="t">
            <a:spAutoFit/>
          </a:bodyPr>
          <a:lstStyle/>
          <a:p>
            <a:pPr algn="ctr">
              <a:lnSpc>
                <a:spcPts val="3920"/>
              </a:lnSpc>
            </a:pPr>
            <a:r>
              <a:rPr lang="en-US" sz="2450">
                <a:solidFill>
                  <a:srgbClr val="000000"/>
                </a:solidFill>
                <a:latin typeface="Poppins"/>
                <a:ea typeface="Poppins"/>
                <a:cs typeface="Poppins"/>
                <a:sym typeface="Poppins"/>
              </a:rPr>
              <a:t>Marg Darshak contributes to building an inclusive society by providing a reliable navigation tool tailored for blind individuals. This innovation encourages active participation in community life, empowering users to access previously unreachable opportunities, connect with others, and unlock their potential.</a:t>
            </a:r>
          </a:p>
        </p:txBody>
      </p:sp>
      <p:sp>
        <p:nvSpPr>
          <p:cNvPr id="17" name="Freeform 17"/>
          <p:cNvSpPr/>
          <p:nvPr/>
        </p:nvSpPr>
        <p:spPr>
          <a:xfrm rot="-8036347">
            <a:off x="-2705130" y="6673385"/>
            <a:ext cx="7300452" cy="4114800"/>
          </a:xfrm>
          <a:custGeom>
            <a:avLst/>
            <a:gdLst/>
            <a:ahLst/>
            <a:cxnLst/>
            <a:rect l="l" t="t" r="r" b="b"/>
            <a:pathLst>
              <a:path w="7300452" h="4114800">
                <a:moveTo>
                  <a:pt x="0" y="0"/>
                </a:moveTo>
                <a:lnTo>
                  <a:pt x="7300451" y="0"/>
                </a:lnTo>
                <a:lnTo>
                  <a:pt x="730045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435598" y="1458172"/>
            <a:ext cx="13489935" cy="1060831"/>
          </a:xfrm>
          <a:prstGeom prst="rect">
            <a:avLst/>
          </a:prstGeom>
        </p:spPr>
        <p:txBody>
          <a:bodyPr lIns="0" tIns="0" rIns="0" bIns="0" rtlCol="0" anchor="t">
            <a:spAutoFit/>
          </a:bodyPr>
          <a:lstStyle/>
          <a:p>
            <a:pPr algn="l">
              <a:lnSpc>
                <a:spcPts val="8162"/>
              </a:lnSpc>
            </a:pPr>
            <a:r>
              <a:rPr lang="en-US" sz="7700" b="1">
                <a:solidFill>
                  <a:srgbClr val="253439"/>
                </a:solidFill>
                <a:latin typeface="Glacial Indifference Bold"/>
                <a:ea typeface="Glacial Indifference Bold"/>
                <a:cs typeface="Glacial Indifference Bold"/>
                <a:sym typeface="Glacial Indifference Bold"/>
              </a:rPr>
              <a:t>METHODOLOGY AND TOOLS</a:t>
            </a:r>
          </a:p>
        </p:txBody>
      </p:sp>
      <p:sp>
        <p:nvSpPr>
          <p:cNvPr id="3" name="AutoShape 3"/>
          <p:cNvSpPr/>
          <p:nvPr/>
        </p:nvSpPr>
        <p:spPr>
          <a:xfrm>
            <a:off x="1095375" y="1170391"/>
            <a:ext cx="0" cy="1531618"/>
          </a:xfrm>
          <a:prstGeom prst="line">
            <a:avLst/>
          </a:prstGeom>
          <a:ln w="133350" cap="flat">
            <a:solidFill>
              <a:srgbClr val="D15353"/>
            </a:solidFill>
            <a:prstDash val="solid"/>
            <a:headEnd type="none" w="sm" len="sm"/>
            <a:tailEnd type="none" w="sm" len="sm"/>
          </a:ln>
        </p:spPr>
      </p:sp>
      <p:sp>
        <p:nvSpPr>
          <p:cNvPr id="4" name="Freeform 4"/>
          <p:cNvSpPr/>
          <p:nvPr/>
        </p:nvSpPr>
        <p:spPr>
          <a:xfrm rot="-10544890">
            <a:off x="10611541" y="-994888"/>
            <a:ext cx="11173984" cy="7393795"/>
          </a:xfrm>
          <a:custGeom>
            <a:avLst/>
            <a:gdLst/>
            <a:ahLst/>
            <a:cxnLst/>
            <a:rect l="l" t="t" r="r" b="b"/>
            <a:pathLst>
              <a:path w="11173984" h="7393795">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2097457" y="2859861"/>
            <a:ext cx="13689003" cy="0"/>
          </a:xfrm>
          <a:prstGeom prst="line">
            <a:avLst/>
          </a:prstGeom>
          <a:ln w="47625" cap="flat">
            <a:solidFill>
              <a:srgbClr val="253439"/>
            </a:solidFill>
            <a:prstDash val="solid"/>
            <a:headEnd type="none" w="sm" len="sm"/>
            <a:tailEnd type="none" w="sm" len="sm"/>
          </a:ln>
        </p:spPr>
      </p:sp>
      <p:grpSp>
        <p:nvGrpSpPr>
          <p:cNvPr id="6" name="Group 6"/>
          <p:cNvGrpSpPr/>
          <p:nvPr/>
        </p:nvGrpSpPr>
        <p:grpSpPr>
          <a:xfrm>
            <a:off x="8827366" y="2702009"/>
            <a:ext cx="268575" cy="26857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id="8" name="TextBox 8"/>
            <p:cNvSpPr txBox="1"/>
            <p:nvPr/>
          </p:nvSpPr>
          <p:spPr>
            <a:xfrm>
              <a:off x="76200" y="95250"/>
              <a:ext cx="660400" cy="641350"/>
            </a:xfrm>
            <a:prstGeom prst="rect">
              <a:avLst/>
            </a:prstGeom>
          </p:spPr>
          <p:txBody>
            <a:bodyPr lIns="59015" tIns="59015" rIns="59015" bIns="59015" rtlCol="0" anchor="ctr"/>
            <a:lstStyle/>
            <a:p>
              <a:pPr algn="ctr">
                <a:lnSpc>
                  <a:spcPts val="2120"/>
                </a:lnSpc>
              </a:pPr>
              <a:endParaRPr/>
            </a:p>
          </p:txBody>
        </p:sp>
      </p:grpSp>
      <p:grpSp>
        <p:nvGrpSpPr>
          <p:cNvPr id="9" name="Group 9"/>
          <p:cNvGrpSpPr/>
          <p:nvPr/>
        </p:nvGrpSpPr>
        <p:grpSpPr>
          <a:xfrm>
            <a:off x="15553891" y="2702009"/>
            <a:ext cx="268575" cy="26857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id="11" name="TextBox 11"/>
            <p:cNvSpPr txBox="1"/>
            <p:nvPr/>
          </p:nvSpPr>
          <p:spPr>
            <a:xfrm>
              <a:off x="76200" y="95250"/>
              <a:ext cx="660400" cy="641350"/>
            </a:xfrm>
            <a:prstGeom prst="rect">
              <a:avLst/>
            </a:prstGeom>
          </p:spPr>
          <p:txBody>
            <a:bodyPr lIns="59015" tIns="59015" rIns="59015" bIns="59015" rtlCol="0" anchor="ctr"/>
            <a:lstStyle/>
            <a:p>
              <a:pPr algn="ctr">
                <a:lnSpc>
                  <a:spcPts val="2120"/>
                </a:lnSpc>
              </a:pPr>
              <a:endParaRPr/>
            </a:p>
          </p:txBody>
        </p:sp>
      </p:grpSp>
      <p:grpSp>
        <p:nvGrpSpPr>
          <p:cNvPr id="12" name="Group 12"/>
          <p:cNvGrpSpPr/>
          <p:nvPr/>
        </p:nvGrpSpPr>
        <p:grpSpPr>
          <a:xfrm>
            <a:off x="2097457" y="2725574"/>
            <a:ext cx="268575" cy="26857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id="14" name="TextBox 14"/>
            <p:cNvSpPr txBox="1"/>
            <p:nvPr/>
          </p:nvSpPr>
          <p:spPr>
            <a:xfrm>
              <a:off x="76200" y="95250"/>
              <a:ext cx="660400" cy="641350"/>
            </a:xfrm>
            <a:prstGeom prst="rect">
              <a:avLst/>
            </a:prstGeom>
          </p:spPr>
          <p:txBody>
            <a:bodyPr lIns="59015" tIns="59015" rIns="59015" bIns="59015" rtlCol="0" anchor="ctr"/>
            <a:lstStyle/>
            <a:p>
              <a:pPr algn="ctr">
                <a:lnSpc>
                  <a:spcPts val="2120"/>
                </a:lnSpc>
              </a:pPr>
              <a:endParaRPr/>
            </a:p>
          </p:txBody>
        </p:sp>
      </p:grpSp>
      <p:sp>
        <p:nvSpPr>
          <p:cNvPr id="15" name="TextBox 15"/>
          <p:cNvSpPr txBox="1"/>
          <p:nvPr/>
        </p:nvSpPr>
        <p:spPr>
          <a:xfrm>
            <a:off x="1554478" y="3308238"/>
            <a:ext cx="3293393" cy="646430"/>
          </a:xfrm>
          <a:prstGeom prst="rect">
            <a:avLst/>
          </a:prstGeom>
        </p:spPr>
        <p:txBody>
          <a:bodyPr lIns="0" tIns="0" rIns="0" bIns="0" rtlCol="0" anchor="t">
            <a:spAutoFit/>
          </a:bodyPr>
          <a:lstStyle/>
          <a:p>
            <a:pPr algn="ctr">
              <a:lnSpc>
                <a:spcPts val="5439"/>
              </a:lnSpc>
            </a:pPr>
            <a:r>
              <a:rPr lang="en-US" sz="3399">
                <a:solidFill>
                  <a:srgbClr val="253439"/>
                </a:solidFill>
                <a:latin typeface="Alata"/>
                <a:ea typeface="Alata"/>
                <a:cs typeface="Alata"/>
                <a:sym typeface="Alata"/>
              </a:rPr>
              <a:t>Computer Vision</a:t>
            </a:r>
          </a:p>
        </p:txBody>
      </p:sp>
      <p:sp>
        <p:nvSpPr>
          <p:cNvPr id="16" name="TextBox 16"/>
          <p:cNvSpPr txBox="1"/>
          <p:nvPr/>
        </p:nvSpPr>
        <p:spPr>
          <a:xfrm>
            <a:off x="13079344" y="3374913"/>
            <a:ext cx="3692378" cy="580390"/>
          </a:xfrm>
          <a:prstGeom prst="rect">
            <a:avLst/>
          </a:prstGeom>
        </p:spPr>
        <p:txBody>
          <a:bodyPr lIns="0" tIns="0" rIns="0" bIns="0" rtlCol="0" anchor="t">
            <a:spAutoFit/>
          </a:bodyPr>
          <a:lstStyle/>
          <a:p>
            <a:pPr algn="ctr">
              <a:lnSpc>
                <a:spcPts val="4759"/>
              </a:lnSpc>
              <a:spcBef>
                <a:spcPct val="0"/>
              </a:spcBef>
            </a:pPr>
            <a:r>
              <a:rPr lang="en-US" sz="3399">
                <a:solidFill>
                  <a:srgbClr val="253439"/>
                </a:solidFill>
                <a:latin typeface="Alata"/>
                <a:ea typeface="Alata"/>
                <a:cs typeface="Alata"/>
                <a:sym typeface="Alata"/>
              </a:rPr>
              <a:t>Audio Output</a:t>
            </a:r>
          </a:p>
        </p:txBody>
      </p:sp>
      <p:sp>
        <p:nvSpPr>
          <p:cNvPr id="17" name="TextBox 17"/>
          <p:cNvSpPr txBox="1"/>
          <p:nvPr/>
        </p:nvSpPr>
        <p:spPr>
          <a:xfrm>
            <a:off x="1095375" y="4287808"/>
            <a:ext cx="4074767" cy="4364926"/>
          </a:xfrm>
          <a:prstGeom prst="rect">
            <a:avLst/>
          </a:prstGeom>
        </p:spPr>
        <p:txBody>
          <a:bodyPr lIns="0" tIns="0" rIns="0" bIns="0" rtlCol="0" anchor="t">
            <a:spAutoFit/>
          </a:bodyPr>
          <a:lstStyle/>
          <a:p>
            <a:pPr algn="ctr">
              <a:lnSpc>
                <a:spcPts val="3895"/>
              </a:lnSpc>
            </a:pPr>
            <a:r>
              <a:rPr lang="en-US" sz="2450">
                <a:solidFill>
                  <a:srgbClr val="253439"/>
                </a:solidFill>
                <a:latin typeface="Poppins"/>
                <a:ea typeface="Poppins"/>
                <a:cs typeface="Poppins"/>
                <a:sym typeface="Poppins"/>
              </a:rPr>
              <a:t>OpenCV library is used to process images from the camera, capturing live video feeds and converting them into frames for analysis. This allows the system to continuously monitor the user's surroundings.</a:t>
            </a:r>
          </a:p>
        </p:txBody>
      </p:sp>
      <p:sp>
        <p:nvSpPr>
          <p:cNvPr id="18" name="TextBox 18"/>
          <p:cNvSpPr txBox="1"/>
          <p:nvPr/>
        </p:nvSpPr>
        <p:spPr>
          <a:xfrm>
            <a:off x="6436424" y="4175911"/>
            <a:ext cx="5050459" cy="5942965"/>
          </a:xfrm>
          <a:prstGeom prst="rect">
            <a:avLst/>
          </a:prstGeom>
        </p:spPr>
        <p:txBody>
          <a:bodyPr lIns="0" tIns="0" rIns="0" bIns="0" rtlCol="0" anchor="t">
            <a:spAutoFit/>
          </a:bodyPr>
          <a:lstStyle/>
          <a:p>
            <a:pPr algn="ctr">
              <a:lnSpc>
                <a:spcPts val="3920"/>
              </a:lnSpc>
            </a:pPr>
            <a:r>
              <a:rPr lang="en-US" sz="2450">
                <a:solidFill>
                  <a:srgbClr val="253439"/>
                </a:solidFill>
                <a:latin typeface="Poppins"/>
                <a:ea typeface="Poppins"/>
                <a:cs typeface="Poppins"/>
                <a:sym typeface="Poppins"/>
              </a:rPr>
              <a:t>Pre-trained machine learning models, specifically those adept at object detection, will be employed to analyze the image frames and identify objects in the user's path. These models, trained on vast datasets of images, can recognize a wide range of common objects such as furniture, walls, people, and other potential obstacles.</a:t>
            </a:r>
          </a:p>
          <a:p>
            <a:pPr algn="ctr">
              <a:lnSpc>
                <a:spcPts val="3920"/>
              </a:lnSpc>
            </a:pPr>
            <a:endParaRPr lang="en-US" sz="2450">
              <a:solidFill>
                <a:srgbClr val="253439"/>
              </a:solidFill>
              <a:latin typeface="Poppins"/>
              <a:ea typeface="Poppins"/>
              <a:cs typeface="Poppins"/>
              <a:sym typeface="Poppins"/>
            </a:endParaRPr>
          </a:p>
        </p:txBody>
      </p:sp>
      <p:sp>
        <p:nvSpPr>
          <p:cNvPr id="19" name="TextBox 19"/>
          <p:cNvSpPr txBox="1"/>
          <p:nvPr/>
        </p:nvSpPr>
        <p:spPr>
          <a:xfrm>
            <a:off x="7313908" y="3374278"/>
            <a:ext cx="3295491" cy="580390"/>
          </a:xfrm>
          <a:prstGeom prst="rect">
            <a:avLst/>
          </a:prstGeom>
        </p:spPr>
        <p:txBody>
          <a:bodyPr lIns="0" tIns="0" rIns="0" bIns="0" rtlCol="0" anchor="t">
            <a:spAutoFit/>
          </a:bodyPr>
          <a:lstStyle/>
          <a:p>
            <a:pPr algn="ctr">
              <a:lnSpc>
                <a:spcPts val="4759"/>
              </a:lnSpc>
              <a:spcBef>
                <a:spcPct val="0"/>
              </a:spcBef>
            </a:pPr>
            <a:r>
              <a:rPr lang="en-US" sz="3399">
                <a:solidFill>
                  <a:srgbClr val="253439"/>
                </a:solidFill>
                <a:latin typeface="Alata"/>
                <a:ea typeface="Alata"/>
                <a:cs typeface="Alata"/>
                <a:sym typeface="Alata"/>
              </a:rPr>
              <a:t>Object Detection</a:t>
            </a:r>
          </a:p>
        </p:txBody>
      </p:sp>
      <p:sp>
        <p:nvSpPr>
          <p:cNvPr id="20" name="TextBox 20"/>
          <p:cNvSpPr txBox="1"/>
          <p:nvPr/>
        </p:nvSpPr>
        <p:spPr>
          <a:xfrm>
            <a:off x="12395705" y="4136278"/>
            <a:ext cx="4640684" cy="4457065"/>
          </a:xfrm>
          <a:prstGeom prst="rect">
            <a:avLst/>
          </a:prstGeom>
        </p:spPr>
        <p:txBody>
          <a:bodyPr lIns="0" tIns="0" rIns="0" bIns="0" rtlCol="0" anchor="t">
            <a:spAutoFit/>
          </a:bodyPr>
          <a:lstStyle/>
          <a:p>
            <a:pPr algn="ctr">
              <a:lnSpc>
                <a:spcPts val="3920"/>
              </a:lnSpc>
            </a:pPr>
            <a:r>
              <a:rPr lang="en-US" sz="2450">
                <a:solidFill>
                  <a:srgbClr val="253439"/>
                </a:solidFill>
                <a:latin typeface="Poppins"/>
                <a:ea typeface="Poppins"/>
                <a:cs typeface="Poppins"/>
                <a:sym typeface="Poppins"/>
              </a:rPr>
              <a:t>A text-to-speech engine will be utilized to convert the detected objects into clear, concise audio alerts for the user. The engine will provide spoken descriptions of the objects, which will allow the user to navigate confidently by relying on auditory cues.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39166" y="3761712"/>
            <a:ext cx="3106383" cy="1176081"/>
            <a:chOff x="0" y="0"/>
            <a:chExt cx="812800" cy="307727"/>
          </a:xfrm>
        </p:grpSpPr>
        <p:sp>
          <p:nvSpPr>
            <p:cNvPr id="3" name="Freeform 3"/>
            <p:cNvSpPr/>
            <p:nvPr/>
          </p:nvSpPr>
          <p:spPr>
            <a:xfrm>
              <a:off x="0" y="0"/>
              <a:ext cx="812800" cy="307727"/>
            </a:xfrm>
            <a:custGeom>
              <a:avLst/>
              <a:gdLst/>
              <a:ahLst/>
              <a:cxnLst/>
              <a:rect l="l" t="t" r="r" b="b"/>
              <a:pathLst>
                <a:path w="812800" h="307727">
                  <a:moveTo>
                    <a:pt x="0" y="0"/>
                  </a:moveTo>
                  <a:lnTo>
                    <a:pt x="609600" y="0"/>
                  </a:lnTo>
                  <a:lnTo>
                    <a:pt x="812800" y="153864"/>
                  </a:lnTo>
                  <a:lnTo>
                    <a:pt x="609600" y="307727"/>
                  </a:lnTo>
                  <a:lnTo>
                    <a:pt x="0" y="307727"/>
                  </a:lnTo>
                  <a:lnTo>
                    <a:pt x="203200" y="153864"/>
                  </a:lnTo>
                  <a:lnTo>
                    <a:pt x="0" y="0"/>
                  </a:lnTo>
                  <a:close/>
                </a:path>
              </a:pathLst>
            </a:custGeom>
            <a:solidFill>
              <a:srgbClr val="343D4A"/>
            </a:solidFill>
          </p:spPr>
        </p:sp>
        <p:sp>
          <p:nvSpPr>
            <p:cNvPr id="4" name="TextBox 4"/>
            <p:cNvSpPr txBox="1"/>
            <p:nvPr/>
          </p:nvSpPr>
          <p:spPr>
            <a:xfrm>
              <a:off x="177800" y="-57150"/>
              <a:ext cx="558800" cy="364877"/>
            </a:xfrm>
            <a:prstGeom prst="rect">
              <a:avLst/>
            </a:prstGeom>
          </p:spPr>
          <p:txBody>
            <a:bodyPr lIns="50800" tIns="50800" rIns="50800" bIns="5080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Threading</a:t>
              </a:r>
            </a:p>
          </p:txBody>
        </p:sp>
      </p:grpSp>
      <p:grpSp>
        <p:nvGrpSpPr>
          <p:cNvPr id="5" name="Group 5"/>
          <p:cNvGrpSpPr/>
          <p:nvPr/>
        </p:nvGrpSpPr>
        <p:grpSpPr>
          <a:xfrm>
            <a:off x="5613183" y="3761712"/>
            <a:ext cx="3106383" cy="1176081"/>
            <a:chOff x="0" y="0"/>
            <a:chExt cx="812800" cy="307727"/>
          </a:xfrm>
        </p:grpSpPr>
        <p:sp>
          <p:nvSpPr>
            <p:cNvPr id="6" name="Freeform 6"/>
            <p:cNvSpPr/>
            <p:nvPr/>
          </p:nvSpPr>
          <p:spPr>
            <a:xfrm>
              <a:off x="0" y="0"/>
              <a:ext cx="812800" cy="307727"/>
            </a:xfrm>
            <a:custGeom>
              <a:avLst/>
              <a:gdLst/>
              <a:ahLst/>
              <a:cxnLst/>
              <a:rect l="l" t="t" r="r" b="b"/>
              <a:pathLst>
                <a:path w="812800" h="307727">
                  <a:moveTo>
                    <a:pt x="0" y="0"/>
                  </a:moveTo>
                  <a:lnTo>
                    <a:pt x="609600" y="0"/>
                  </a:lnTo>
                  <a:lnTo>
                    <a:pt x="812800" y="153864"/>
                  </a:lnTo>
                  <a:lnTo>
                    <a:pt x="609600" y="307727"/>
                  </a:lnTo>
                  <a:lnTo>
                    <a:pt x="0" y="307727"/>
                  </a:lnTo>
                  <a:lnTo>
                    <a:pt x="203200" y="153864"/>
                  </a:lnTo>
                  <a:lnTo>
                    <a:pt x="0" y="0"/>
                  </a:lnTo>
                  <a:close/>
                </a:path>
              </a:pathLst>
            </a:custGeom>
            <a:solidFill>
              <a:srgbClr val="343D4A"/>
            </a:solidFill>
          </p:spPr>
        </p:sp>
        <p:sp>
          <p:nvSpPr>
            <p:cNvPr id="7" name="TextBox 7"/>
            <p:cNvSpPr txBox="1"/>
            <p:nvPr/>
          </p:nvSpPr>
          <p:spPr>
            <a:xfrm>
              <a:off x="177800" y="-57150"/>
              <a:ext cx="558800" cy="364877"/>
            </a:xfrm>
            <a:prstGeom prst="rect">
              <a:avLst/>
            </a:prstGeom>
          </p:spPr>
          <p:txBody>
            <a:bodyPr lIns="50800" tIns="50800" rIns="50800" bIns="5080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pyttsx3</a:t>
              </a:r>
            </a:p>
          </p:txBody>
        </p:sp>
      </p:grpSp>
      <p:grpSp>
        <p:nvGrpSpPr>
          <p:cNvPr id="8" name="Group 8"/>
          <p:cNvGrpSpPr/>
          <p:nvPr/>
        </p:nvGrpSpPr>
        <p:grpSpPr>
          <a:xfrm>
            <a:off x="13943052" y="3761712"/>
            <a:ext cx="3106383" cy="1176081"/>
            <a:chOff x="0" y="0"/>
            <a:chExt cx="812800" cy="307727"/>
          </a:xfrm>
        </p:grpSpPr>
        <p:sp>
          <p:nvSpPr>
            <p:cNvPr id="9" name="Freeform 9"/>
            <p:cNvSpPr/>
            <p:nvPr/>
          </p:nvSpPr>
          <p:spPr>
            <a:xfrm>
              <a:off x="0" y="0"/>
              <a:ext cx="812800" cy="307727"/>
            </a:xfrm>
            <a:custGeom>
              <a:avLst/>
              <a:gdLst/>
              <a:ahLst/>
              <a:cxnLst/>
              <a:rect l="l" t="t" r="r" b="b"/>
              <a:pathLst>
                <a:path w="812800" h="307727">
                  <a:moveTo>
                    <a:pt x="0" y="0"/>
                  </a:moveTo>
                  <a:lnTo>
                    <a:pt x="609600" y="0"/>
                  </a:lnTo>
                  <a:lnTo>
                    <a:pt x="812800" y="153864"/>
                  </a:lnTo>
                  <a:lnTo>
                    <a:pt x="609600" y="307727"/>
                  </a:lnTo>
                  <a:lnTo>
                    <a:pt x="0" y="307727"/>
                  </a:lnTo>
                  <a:lnTo>
                    <a:pt x="203200" y="153864"/>
                  </a:lnTo>
                  <a:lnTo>
                    <a:pt x="0" y="0"/>
                  </a:lnTo>
                  <a:close/>
                </a:path>
              </a:pathLst>
            </a:custGeom>
            <a:solidFill>
              <a:srgbClr val="343D4A"/>
            </a:solidFill>
          </p:spPr>
        </p:sp>
        <p:sp>
          <p:nvSpPr>
            <p:cNvPr id="10" name="TextBox 10"/>
            <p:cNvSpPr txBox="1"/>
            <p:nvPr/>
          </p:nvSpPr>
          <p:spPr>
            <a:xfrm>
              <a:off x="177800" y="-57150"/>
              <a:ext cx="558800" cy="364877"/>
            </a:xfrm>
            <a:prstGeom prst="rect">
              <a:avLst/>
            </a:prstGeom>
          </p:spPr>
          <p:txBody>
            <a:bodyPr lIns="50800" tIns="50800" rIns="50800" bIns="5080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CV</a:t>
              </a:r>
            </a:p>
          </p:txBody>
        </p:sp>
      </p:grpSp>
      <p:grpSp>
        <p:nvGrpSpPr>
          <p:cNvPr id="11" name="Group 11"/>
          <p:cNvGrpSpPr/>
          <p:nvPr/>
        </p:nvGrpSpPr>
        <p:grpSpPr>
          <a:xfrm>
            <a:off x="1028700" y="5391841"/>
            <a:ext cx="16734553" cy="3078926"/>
            <a:chOff x="0" y="0"/>
            <a:chExt cx="22312738" cy="4105234"/>
          </a:xfrm>
        </p:grpSpPr>
        <p:sp>
          <p:nvSpPr>
            <p:cNvPr id="12" name="TextBox 12"/>
            <p:cNvSpPr txBox="1"/>
            <p:nvPr/>
          </p:nvSpPr>
          <p:spPr>
            <a:xfrm>
              <a:off x="0" y="96520"/>
              <a:ext cx="5093601" cy="523028"/>
            </a:xfrm>
            <a:prstGeom prst="rect">
              <a:avLst/>
            </a:prstGeom>
          </p:spPr>
          <p:txBody>
            <a:bodyPr lIns="0" tIns="0" rIns="0" bIns="0" rtlCol="0" anchor="t">
              <a:spAutoFit/>
            </a:bodyPr>
            <a:lstStyle/>
            <a:p>
              <a:pPr marL="561339" lvl="1" indent="-280669" algn="l">
                <a:lnSpc>
                  <a:spcPts val="2989"/>
                </a:lnSpc>
                <a:buFont typeface="Arial"/>
                <a:buChar char="•"/>
              </a:pPr>
              <a:r>
                <a:rPr lang="en-US" sz="2599" b="1">
                  <a:solidFill>
                    <a:srgbClr val="343D4A"/>
                  </a:solidFill>
                  <a:latin typeface="Glacial Indifference Bold"/>
                  <a:ea typeface="Glacial Indifference Bold"/>
                  <a:cs typeface="Glacial Indifference Bold"/>
                  <a:sym typeface="Glacial Indifference Bold"/>
                </a:rPr>
                <a:t>Threading</a:t>
              </a:r>
            </a:p>
          </p:txBody>
        </p:sp>
        <p:sp>
          <p:nvSpPr>
            <p:cNvPr id="13" name="TextBox 13"/>
            <p:cNvSpPr txBox="1"/>
            <p:nvPr/>
          </p:nvSpPr>
          <p:spPr>
            <a:xfrm>
              <a:off x="147288" y="842222"/>
              <a:ext cx="4701482" cy="3260344"/>
            </a:xfrm>
            <a:prstGeom prst="rect">
              <a:avLst/>
            </a:prstGeom>
          </p:spPr>
          <p:txBody>
            <a:bodyPr lIns="0" tIns="0" rIns="0" bIns="0" rtlCol="0" anchor="t">
              <a:spAutoFit/>
            </a:bodyPr>
            <a:lstStyle/>
            <a:p>
              <a:pPr marL="0" lvl="0" indent="0" algn="l">
                <a:lnSpc>
                  <a:spcPts val="2450"/>
                </a:lnSpc>
                <a:spcBef>
                  <a:spcPct val="0"/>
                </a:spcBef>
              </a:pPr>
              <a:r>
                <a:rPr lang="en-US" sz="1899">
                  <a:solidFill>
                    <a:srgbClr val="46483F"/>
                  </a:solidFill>
                  <a:latin typeface="Poppins"/>
                  <a:ea typeface="Poppins"/>
                  <a:cs typeface="Poppins"/>
                  <a:sym typeface="Poppins"/>
                </a:rPr>
                <a:t>Used to run multiple operations concurrently, ensuring smooth and efficient execution of tasks like real-time video processing and audio feedback generation without causing delays.</a:t>
              </a:r>
            </a:p>
          </p:txBody>
        </p:sp>
        <p:sp>
          <p:nvSpPr>
            <p:cNvPr id="14" name="TextBox 14"/>
            <p:cNvSpPr txBox="1"/>
            <p:nvPr/>
          </p:nvSpPr>
          <p:spPr>
            <a:xfrm>
              <a:off x="17219137" y="0"/>
              <a:ext cx="5093601" cy="487680"/>
            </a:xfrm>
            <a:prstGeom prst="rect">
              <a:avLst/>
            </a:prstGeom>
          </p:spPr>
          <p:txBody>
            <a:bodyPr lIns="0" tIns="0" rIns="0" bIns="0" rtlCol="0" anchor="t">
              <a:spAutoFit/>
            </a:bodyPr>
            <a:lstStyle/>
            <a:p>
              <a:pPr marL="518160" lvl="1" indent="-259080" algn="l">
                <a:lnSpc>
                  <a:spcPts val="2760"/>
                </a:lnSpc>
                <a:buFont typeface="Arial"/>
                <a:buChar char="•"/>
              </a:pPr>
              <a:r>
                <a:rPr lang="en-US" sz="2400" b="1">
                  <a:solidFill>
                    <a:srgbClr val="343D4A"/>
                  </a:solidFill>
                  <a:latin typeface="Glacial Indifference Bold"/>
                  <a:ea typeface="Glacial Indifference Bold"/>
                  <a:cs typeface="Glacial Indifference Bold"/>
                  <a:sym typeface="Glacial Indifference Bold"/>
                </a:rPr>
                <a:t>CV</a:t>
              </a:r>
            </a:p>
          </p:txBody>
        </p:sp>
        <p:sp>
          <p:nvSpPr>
            <p:cNvPr id="15" name="TextBox 15"/>
            <p:cNvSpPr txBox="1"/>
            <p:nvPr/>
          </p:nvSpPr>
          <p:spPr>
            <a:xfrm>
              <a:off x="17219137" y="581448"/>
              <a:ext cx="4701482" cy="3260344"/>
            </a:xfrm>
            <a:prstGeom prst="rect">
              <a:avLst/>
            </a:prstGeom>
          </p:spPr>
          <p:txBody>
            <a:bodyPr lIns="0" tIns="0" rIns="0" bIns="0" rtlCol="0" anchor="t">
              <a:spAutoFit/>
            </a:bodyPr>
            <a:lstStyle/>
            <a:p>
              <a:pPr marL="0" lvl="0" indent="0" algn="l">
                <a:lnSpc>
                  <a:spcPts val="2450"/>
                </a:lnSpc>
                <a:spcBef>
                  <a:spcPct val="0"/>
                </a:spcBef>
              </a:pPr>
              <a:r>
                <a:rPr lang="en-US" sz="1899">
                  <a:solidFill>
                    <a:srgbClr val="46483F"/>
                  </a:solidFill>
                  <a:latin typeface="Poppins"/>
                  <a:ea typeface="Poppins"/>
                  <a:cs typeface="Poppins"/>
                  <a:sym typeface="Poppins"/>
                </a:rPr>
                <a:t>Provides the YOLOv8 implementation, enabling object detection and tracking. It powers the real-time identification of obstacles in the visual input, forming the core functionality of your project.</a:t>
              </a:r>
            </a:p>
          </p:txBody>
        </p:sp>
        <p:sp>
          <p:nvSpPr>
            <p:cNvPr id="16" name="TextBox 16"/>
            <p:cNvSpPr txBox="1"/>
            <p:nvPr/>
          </p:nvSpPr>
          <p:spPr>
            <a:xfrm>
              <a:off x="5636765" y="9525"/>
              <a:ext cx="5093601" cy="523028"/>
            </a:xfrm>
            <a:prstGeom prst="rect">
              <a:avLst/>
            </a:prstGeom>
          </p:spPr>
          <p:txBody>
            <a:bodyPr lIns="0" tIns="0" rIns="0" bIns="0" rtlCol="0" anchor="t">
              <a:spAutoFit/>
            </a:bodyPr>
            <a:lstStyle/>
            <a:p>
              <a:pPr marL="561339" lvl="1" indent="-280669" algn="l">
                <a:lnSpc>
                  <a:spcPts val="2989"/>
                </a:lnSpc>
                <a:buFont typeface="Arial"/>
                <a:buChar char="•"/>
              </a:pPr>
              <a:r>
                <a:rPr lang="en-US" sz="2599" b="1">
                  <a:solidFill>
                    <a:srgbClr val="343D4A"/>
                  </a:solidFill>
                  <a:latin typeface="Glacial Indifference Bold"/>
                  <a:ea typeface="Glacial Indifference Bold"/>
                  <a:cs typeface="Glacial Indifference Bold"/>
                  <a:sym typeface="Glacial Indifference Bold"/>
                </a:rPr>
                <a:t>pyttsx3</a:t>
              </a:r>
            </a:p>
          </p:txBody>
        </p:sp>
        <p:sp>
          <p:nvSpPr>
            <p:cNvPr id="17" name="TextBox 17"/>
            <p:cNvSpPr txBox="1"/>
            <p:nvPr/>
          </p:nvSpPr>
          <p:spPr>
            <a:xfrm>
              <a:off x="6112644" y="844890"/>
              <a:ext cx="4309363" cy="3260344"/>
            </a:xfrm>
            <a:prstGeom prst="rect">
              <a:avLst/>
            </a:prstGeom>
          </p:spPr>
          <p:txBody>
            <a:bodyPr lIns="0" tIns="0" rIns="0" bIns="0" rtlCol="0" anchor="t">
              <a:spAutoFit/>
            </a:bodyPr>
            <a:lstStyle/>
            <a:p>
              <a:pPr marL="0" lvl="0" indent="0" algn="l">
                <a:lnSpc>
                  <a:spcPts val="2450"/>
                </a:lnSpc>
                <a:spcBef>
                  <a:spcPct val="0"/>
                </a:spcBef>
              </a:pPr>
              <a:r>
                <a:rPr lang="en-US" sz="1899">
                  <a:solidFill>
                    <a:srgbClr val="46483F"/>
                  </a:solidFill>
                  <a:latin typeface="Poppins"/>
                  <a:ea typeface="Poppins"/>
                  <a:cs typeface="Poppins"/>
                  <a:sym typeface="Poppins"/>
                </a:rPr>
                <a:t>A text-to-speech conversion library that provides audio feedback to the user. It converts obstacle detection results into clear, spoken instructions, enhancing user interaction.</a:t>
              </a:r>
            </a:p>
          </p:txBody>
        </p:sp>
        <p:sp>
          <p:nvSpPr>
            <p:cNvPr id="18" name="TextBox 18"/>
            <p:cNvSpPr txBox="1"/>
            <p:nvPr/>
          </p:nvSpPr>
          <p:spPr>
            <a:xfrm>
              <a:off x="11698429" y="96520"/>
              <a:ext cx="5093601" cy="523028"/>
            </a:xfrm>
            <a:prstGeom prst="rect">
              <a:avLst/>
            </a:prstGeom>
          </p:spPr>
          <p:txBody>
            <a:bodyPr lIns="0" tIns="0" rIns="0" bIns="0" rtlCol="0" anchor="t">
              <a:spAutoFit/>
            </a:bodyPr>
            <a:lstStyle/>
            <a:p>
              <a:pPr marL="561339" lvl="1" indent="-280669" algn="l">
                <a:lnSpc>
                  <a:spcPts val="2989"/>
                </a:lnSpc>
                <a:buFont typeface="Arial"/>
                <a:buChar char="•"/>
              </a:pPr>
              <a:r>
                <a:rPr lang="en-US" sz="2599" b="1">
                  <a:solidFill>
                    <a:srgbClr val="343D4A"/>
                  </a:solidFill>
                  <a:latin typeface="Glacial Indifference Bold"/>
                  <a:ea typeface="Glacial Indifference Bold"/>
                  <a:cs typeface="Glacial Indifference Bold"/>
                  <a:sym typeface="Glacial Indifference Bold"/>
                </a:rPr>
                <a:t>Ultralytics</a:t>
              </a:r>
            </a:p>
          </p:txBody>
        </p:sp>
        <p:sp>
          <p:nvSpPr>
            <p:cNvPr id="19" name="TextBox 19"/>
            <p:cNvSpPr txBox="1"/>
            <p:nvPr/>
          </p:nvSpPr>
          <p:spPr>
            <a:xfrm>
              <a:off x="11862190" y="844890"/>
              <a:ext cx="4309363" cy="3260344"/>
            </a:xfrm>
            <a:prstGeom prst="rect">
              <a:avLst/>
            </a:prstGeom>
          </p:spPr>
          <p:txBody>
            <a:bodyPr lIns="0" tIns="0" rIns="0" bIns="0" rtlCol="0" anchor="t">
              <a:spAutoFit/>
            </a:bodyPr>
            <a:lstStyle/>
            <a:p>
              <a:pPr marL="0" lvl="0" indent="0" algn="l">
                <a:lnSpc>
                  <a:spcPts val="2450"/>
                </a:lnSpc>
                <a:spcBef>
                  <a:spcPct val="0"/>
                </a:spcBef>
              </a:pPr>
              <a:r>
                <a:rPr lang="en-US" sz="1899">
                  <a:solidFill>
                    <a:srgbClr val="46483F"/>
                  </a:solidFill>
                  <a:latin typeface="Poppins"/>
                  <a:ea typeface="Poppins"/>
                  <a:cs typeface="Poppins"/>
                  <a:sym typeface="Poppins"/>
                </a:rPr>
                <a:t>A computer vision library used for capturing and processing images or video streams. It plays a central role in obstacle detection by feeding input to the YOLOv8 model and visualizing results.</a:t>
              </a:r>
            </a:p>
          </p:txBody>
        </p:sp>
      </p:grpSp>
      <p:grpSp>
        <p:nvGrpSpPr>
          <p:cNvPr id="20" name="Group 20"/>
          <p:cNvGrpSpPr/>
          <p:nvPr/>
        </p:nvGrpSpPr>
        <p:grpSpPr>
          <a:xfrm>
            <a:off x="9925343" y="3761712"/>
            <a:ext cx="3106383" cy="1176081"/>
            <a:chOff x="0" y="0"/>
            <a:chExt cx="812800" cy="307727"/>
          </a:xfrm>
        </p:grpSpPr>
        <p:sp>
          <p:nvSpPr>
            <p:cNvPr id="21" name="Freeform 21"/>
            <p:cNvSpPr/>
            <p:nvPr/>
          </p:nvSpPr>
          <p:spPr>
            <a:xfrm>
              <a:off x="0" y="0"/>
              <a:ext cx="812800" cy="307727"/>
            </a:xfrm>
            <a:custGeom>
              <a:avLst/>
              <a:gdLst/>
              <a:ahLst/>
              <a:cxnLst/>
              <a:rect l="l" t="t" r="r" b="b"/>
              <a:pathLst>
                <a:path w="812800" h="307727">
                  <a:moveTo>
                    <a:pt x="0" y="0"/>
                  </a:moveTo>
                  <a:lnTo>
                    <a:pt x="609600" y="0"/>
                  </a:lnTo>
                  <a:lnTo>
                    <a:pt x="812800" y="153864"/>
                  </a:lnTo>
                  <a:lnTo>
                    <a:pt x="609600" y="307727"/>
                  </a:lnTo>
                  <a:lnTo>
                    <a:pt x="0" y="307727"/>
                  </a:lnTo>
                  <a:lnTo>
                    <a:pt x="203200" y="153864"/>
                  </a:lnTo>
                  <a:lnTo>
                    <a:pt x="0" y="0"/>
                  </a:lnTo>
                  <a:close/>
                </a:path>
              </a:pathLst>
            </a:custGeom>
            <a:solidFill>
              <a:srgbClr val="343D4A"/>
            </a:solidFill>
          </p:spPr>
        </p:sp>
        <p:sp>
          <p:nvSpPr>
            <p:cNvPr id="22" name="TextBox 22"/>
            <p:cNvSpPr txBox="1"/>
            <p:nvPr/>
          </p:nvSpPr>
          <p:spPr>
            <a:xfrm>
              <a:off x="177800" y="-57150"/>
              <a:ext cx="558800" cy="364877"/>
            </a:xfrm>
            <a:prstGeom prst="rect">
              <a:avLst/>
            </a:prstGeom>
          </p:spPr>
          <p:txBody>
            <a:bodyPr lIns="50800" tIns="50800" rIns="50800" bIns="5080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Ultralytics</a:t>
              </a:r>
            </a:p>
          </p:txBody>
        </p:sp>
      </p:grpSp>
      <p:sp>
        <p:nvSpPr>
          <p:cNvPr id="23" name="TextBox 23"/>
          <p:cNvSpPr txBox="1"/>
          <p:nvPr/>
        </p:nvSpPr>
        <p:spPr>
          <a:xfrm>
            <a:off x="6809466" y="793785"/>
            <a:ext cx="4669069" cy="1335223"/>
          </a:xfrm>
          <a:prstGeom prst="rect">
            <a:avLst/>
          </a:prstGeom>
        </p:spPr>
        <p:txBody>
          <a:bodyPr lIns="0" tIns="0" rIns="0" bIns="0" rtlCol="0" anchor="t">
            <a:spAutoFit/>
          </a:bodyPr>
          <a:lstStyle/>
          <a:p>
            <a:pPr algn="ctr">
              <a:lnSpc>
                <a:spcPts val="10334"/>
              </a:lnSpc>
              <a:spcBef>
                <a:spcPct val="0"/>
              </a:spcBef>
            </a:pPr>
            <a:r>
              <a:rPr lang="en-US" sz="9394" spc="375">
                <a:solidFill>
                  <a:srgbClr val="000000"/>
                </a:solidFill>
                <a:latin typeface="Gagalin"/>
                <a:ea typeface="Gagalin"/>
                <a:cs typeface="Gagalin"/>
                <a:sym typeface="Gagalin"/>
              </a:rPr>
              <a:t>MODULES</a:t>
            </a:r>
          </a:p>
        </p:txBody>
      </p:sp>
      <p:sp>
        <p:nvSpPr>
          <p:cNvPr id="24" name="Freeform 24"/>
          <p:cNvSpPr/>
          <p:nvPr/>
        </p:nvSpPr>
        <p:spPr>
          <a:xfrm>
            <a:off x="-4357357" y="-5293631"/>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rot="2016048">
            <a:off x="11884568" y="925006"/>
            <a:ext cx="10749463" cy="2687366"/>
          </a:xfrm>
          <a:custGeom>
            <a:avLst/>
            <a:gdLst/>
            <a:ahLst/>
            <a:cxnLst/>
            <a:rect l="l" t="t" r="r" b="b"/>
            <a:pathLst>
              <a:path w="10749463" h="2687366">
                <a:moveTo>
                  <a:pt x="0" y="0"/>
                </a:moveTo>
                <a:lnTo>
                  <a:pt x="10749464" y="0"/>
                </a:lnTo>
                <a:lnTo>
                  <a:pt x="10749464" y="2687365"/>
                </a:lnTo>
                <a:lnTo>
                  <a:pt x="0" y="2687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762315" y="1104900"/>
            <a:ext cx="16763370" cy="2224049"/>
          </a:xfrm>
          <a:prstGeom prst="rect">
            <a:avLst/>
          </a:prstGeom>
        </p:spPr>
        <p:txBody>
          <a:bodyPr lIns="0" tIns="0" rIns="0" bIns="0" rtlCol="0" anchor="t">
            <a:spAutoFit/>
          </a:bodyPr>
          <a:lstStyle/>
          <a:p>
            <a:pPr algn="ctr">
              <a:lnSpc>
                <a:spcPts val="8666"/>
              </a:lnSpc>
              <a:spcBef>
                <a:spcPct val="0"/>
              </a:spcBef>
            </a:pPr>
            <a:r>
              <a:rPr lang="en-US" sz="7878" spc="315">
                <a:solidFill>
                  <a:srgbClr val="000000"/>
                </a:solidFill>
                <a:latin typeface="Gagalin"/>
                <a:ea typeface="Gagalin"/>
                <a:cs typeface="Gagalin"/>
                <a:sym typeface="Gagalin"/>
              </a:rPr>
              <a:t>MODULE WORKFLOW OF MARG DARSHAK</a:t>
            </a:r>
          </a:p>
        </p:txBody>
      </p:sp>
      <p:sp>
        <p:nvSpPr>
          <p:cNvPr id="3" name="Freeform 3"/>
          <p:cNvSpPr/>
          <p:nvPr/>
        </p:nvSpPr>
        <p:spPr>
          <a:xfrm>
            <a:off x="-4357357" y="-5293631"/>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2016048">
            <a:off x="11884568" y="925006"/>
            <a:ext cx="10749463" cy="2687366"/>
          </a:xfrm>
          <a:custGeom>
            <a:avLst/>
            <a:gdLst/>
            <a:ahLst/>
            <a:cxnLst/>
            <a:rect l="l" t="t" r="r" b="b"/>
            <a:pathLst>
              <a:path w="10749463" h="2687366">
                <a:moveTo>
                  <a:pt x="0" y="0"/>
                </a:moveTo>
                <a:lnTo>
                  <a:pt x="10749464" y="0"/>
                </a:lnTo>
                <a:lnTo>
                  <a:pt x="10749464" y="2687365"/>
                </a:lnTo>
                <a:lnTo>
                  <a:pt x="0" y="2687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5777798" y="3964669"/>
            <a:ext cx="5806233" cy="5725327"/>
            <a:chOff x="0" y="0"/>
            <a:chExt cx="7741644" cy="7633769"/>
          </a:xfrm>
        </p:grpSpPr>
        <p:sp>
          <p:nvSpPr>
            <p:cNvPr id="6" name="Freeform 6"/>
            <p:cNvSpPr/>
            <p:nvPr/>
          </p:nvSpPr>
          <p:spPr>
            <a:xfrm rot="4460401">
              <a:off x="4891192" y="3307605"/>
              <a:ext cx="2571390" cy="2529313"/>
            </a:xfrm>
            <a:custGeom>
              <a:avLst/>
              <a:gdLst/>
              <a:ahLst/>
              <a:cxnLst/>
              <a:rect l="l" t="t" r="r" b="b"/>
              <a:pathLst>
                <a:path w="2571390" h="2529313">
                  <a:moveTo>
                    <a:pt x="0" y="0"/>
                  </a:moveTo>
                  <a:lnTo>
                    <a:pt x="2571390" y="0"/>
                  </a:lnTo>
                  <a:lnTo>
                    <a:pt x="2571390" y="2529313"/>
                  </a:lnTo>
                  <a:lnTo>
                    <a:pt x="0" y="2529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99294">
              <a:off x="4478593" y="608614"/>
              <a:ext cx="2571390" cy="2529313"/>
            </a:xfrm>
            <a:custGeom>
              <a:avLst/>
              <a:gdLst/>
              <a:ahLst/>
              <a:cxnLst/>
              <a:rect l="l" t="t" r="r" b="b"/>
              <a:pathLst>
                <a:path w="2571390" h="2529313">
                  <a:moveTo>
                    <a:pt x="0" y="0"/>
                  </a:moveTo>
                  <a:lnTo>
                    <a:pt x="2571390" y="0"/>
                  </a:lnTo>
                  <a:lnTo>
                    <a:pt x="2571390" y="2529313"/>
                  </a:lnTo>
                  <a:lnTo>
                    <a:pt x="0" y="2529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8539790">
              <a:off x="2364888" y="4582377"/>
              <a:ext cx="2571390" cy="2529313"/>
            </a:xfrm>
            <a:custGeom>
              <a:avLst/>
              <a:gdLst/>
              <a:ahLst/>
              <a:cxnLst/>
              <a:rect l="l" t="t" r="r" b="b"/>
              <a:pathLst>
                <a:path w="2571390" h="2529313">
                  <a:moveTo>
                    <a:pt x="0" y="0"/>
                  </a:moveTo>
                  <a:lnTo>
                    <a:pt x="2571390" y="0"/>
                  </a:lnTo>
                  <a:lnTo>
                    <a:pt x="2571390" y="2529313"/>
                  </a:lnTo>
                  <a:lnTo>
                    <a:pt x="0" y="2529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4499518">
              <a:off x="1785879" y="304671"/>
              <a:ext cx="2571390" cy="2529313"/>
            </a:xfrm>
            <a:custGeom>
              <a:avLst/>
              <a:gdLst/>
              <a:ahLst/>
              <a:cxnLst/>
              <a:rect l="l" t="t" r="r" b="b"/>
              <a:pathLst>
                <a:path w="2571390" h="2529313">
                  <a:moveTo>
                    <a:pt x="0" y="0"/>
                  </a:moveTo>
                  <a:lnTo>
                    <a:pt x="2571390" y="0"/>
                  </a:lnTo>
                  <a:lnTo>
                    <a:pt x="2571390" y="2529313"/>
                  </a:lnTo>
                  <a:lnTo>
                    <a:pt x="0" y="2529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8532304">
              <a:off x="505301" y="2690306"/>
              <a:ext cx="2571390" cy="2529313"/>
            </a:xfrm>
            <a:custGeom>
              <a:avLst/>
              <a:gdLst/>
              <a:ahLst/>
              <a:cxnLst/>
              <a:rect l="l" t="t" r="r" b="b"/>
              <a:pathLst>
                <a:path w="2571390" h="2529313">
                  <a:moveTo>
                    <a:pt x="0" y="0"/>
                  </a:moveTo>
                  <a:lnTo>
                    <a:pt x="2571390" y="0"/>
                  </a:lnTo>
                  <a:lnTo>
                    <a:pt x="2571390" y="2529313"/>
                  </a:lnTo>
                  <a:lnTo>
                    <a:pt x="0" y="2529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11" name="TextBox 11"/>
          <p:cNvSpPr txBox="1"/>
          <p:nvPr/>
        </p:nvSpPr>
        <p:spPr>
          <a:xfrm>
            <a:off x="5521166" y="3415046"/>
            <a:ext cx="7245668" cy="405764"/>
          </a:xfrm>
          <a:prstGeom prst="rect">
            <a:avLst/>
          </a:prstGeom>
        </p:spPr>
        <p:txBody>
          <a:bodyPr lIns="0" tIns="0" rIns="0" bIns="0" rtlCol="0" anchor="t">
            <a:spAutoFit/>
          </a:bodyPr>
          <a:lstStyle/>
          <a:p>
            <a:pPr algn="ctr">
              <a:lnSpc>
                <a:spcPts val="3360"/>
              </a:lnSpc>
              <a:spcBef>
                <a:spcPct val="0"/>
              </a:spcBef>
            </a:pPr>
            <a:r>
              <a:rPr lang="en-US" sz="2400">
                <a:solidFill>
                  <a:srgbClr val="000000"/>
                </a:solidFill>
                <a:latin typeface="Alata"/>
                <a:ea typeface="Alata"/>
                <a:cs typeface="Alata"/>
                <a:sym typeface="Alata"/>
              </a:rPr>
              <a:t>diagram showing the connections between modules:</a:t>
            </a:r>
          </a:p>
        </p:txBody>
      </p:sp>
      <p:sp>
        <p:nvSpPr>
          <p:cNvPr id="12" name="TextBox 12"/>
          <p:cNvSpPr txBox="1"/>
          <p:nvPr/>
        </p:nvSpPr>
        <p:spPr>
          <a:xfrm>
            <a:off x="10972533" y="4306252"/>
            <a:ext cx="3110547" cy="580390"/>
          </a:xfrm>
          <a:prstGeom prst="rect">
            <a:avLst/>
          </a:prstGeom>
        </p:spPr>
        <p:txBody>
          <a:bodyPr lIns="0" tIns="0" rIns="0" bIns="0" rtlCol="0" anchor="t">
            <a:spAutoFit/>
          </a:bodyPr>
          <a:lstStyle/>
          <a:p>
            <a:pPr algn="ctr">
              <a:lnSpc>
                <a:spcPts val="4759"/>
              </a:lnSpc>
              <a:spcBef>
                <a:spcPct val="0"/>
              </a:spcBef>
            </a:pPr>
            <a:r>
              <a:rPr lang="en-US" sz="3399">
                <a:solidFill>
                  <a:srgbClr val="D15353"/>
                </a:solidFill>
                <a:latin typeface="Alata"/>
                <a:ea typeface="Alata"/>
                <a:cs typeface="Alata"/>
                <a:sym typeface="Alata"/>
              </a:rPr>
              <a:t>Input (Camera)</a:t>
            </a:r>
          </a:p>
        </p:txBody>
      </p:sp>
      <p:sp>
        <p:nvSpPr>
          <p:cNvPr id="13" name="TextBox 13"/>
          <p:cNvSpPr txBox="1"/>
          <p:nvPr/>
        </p:nvSpPr>
        <p:spPr>
          <a:xfrm>
            <a:off x="1295627" y="4306252"/>
            <a:ext cx="5760085" cy="580390"/>
          </a:xfrm>
          <a:prstGeom prst="rect">
            <a:avLst/>
          </a:prstGeom>
        </p:spPr>
        <p:txBody>
          <a:bodyPr lIns="0" tIns="0" rIns="0" bIns="0" rtlCol="0" anchor="t">
            <a:spAutoFit/>
          </a:bodyPr>
          <a:lstStyle/>
          <a:p>
            <a:pPr algn="ctr">
              <a:lnSpc>
                <a:spcPts val="4759"/>
              </a:lnSpc>
              <a:spcBef>
                <a:spcPct val="0"/>
              </a:spcBef>
            </a:pPr>
            <a:r>
              <a:rPr lang="en-US" sz="3399">
                <a:solidFill>
                  <a:srgbClr val="D15353"/>
                </a:solidFill>
                <a:latin typeface="Alata"/>
                <a:ea typeface="Alata"/>
                <a:cs typeface="Alata"/>
                <a:sym typeface="Alata"/>
              </a:rPr>
              <a:t>Object Detection (YOLOv8N)</a:t>
            </a:r>
          </a:p>
        </p:txBody>
      </p:sp>
      <p:sp>
        <p:nvSpPr>
          <p:cNvPr id="14" name="TextBox 14"/>
          <p:cNvSpPr txBox="1"/>
          <p:nvPr/>
        </p:nvSpPr>
        <p:spPr>
          <a:xfrm>
            <a:off x="7055712" y="9191625"/>
            <a:ext cx="3250406" cy="580390"/>
          </a:xfrm>
          <a:prstGeom prst="rect">
            <a:avLst/>
          </a:prstGeom>
        </p:spPr>
        <p:txBody>
          <a:bodyPr lIns="0" tIns="0" rIns="0" bIns="0" rtlCol="0" anchor="t">
            <a:spAutoFit/>
          </a:bodyPr>
          <a:lstStyle/>
          <a:p>
            <a:pPr algn="ctr">
              <a:lnSpc>
                <a:spcPts val="4759"/>
              </a:lnSpc>
              <a:spcBef>
                <a:spcPct val="0"/>
              </a:spcBef>
            </a:pPr>
            <a:r>
              <a:rPr lang="en-US" sz="3399">
                <a:solidFill>
                  <a:srgbClr val="D15353"/>
                </a:solidFill>
                <a:latin typeface="Alata"/>
                <a:ea typeface="Alata"/>
                <a:cs typeface="Alata"/>
                <a:sym typeface="Alata"/>
              </a:rPr>
              <a:t>Audio Feedback </a:t>
            </a:r>
          </a:p>
        </p:txBody>
      </p:sp>
      <p:sp>
        <p:nvSpPr>
          <p:cNvPr id="15" name="TextBox 15"/>
          <p:cNvSpPr txBox="1"/>
          <p:nvPr/>
        </p:nvSpPr>
        <p:spPr>
          <a:xfrm>
            <a:off x="11550224" y="7017515"/>
            <a:ext cx="977582" cy="580390"/>
          </a:xfrm>
          <a:prstGeom prst="rect">
            <a:avLst/>
          </a:prstGeom>
        </p:spPr>
        <p:txBody>
          <a:bodyPr lIns="0" tIns="0" rIns="0" bIns="0" rtlCol="0" anchor="t">
            <a:spAutoFit/>
          </a:bodyPr>
          <a:lstStyle/>
          <a:p>
            <a:pPr algn="ctr">
              <a:lnSpc>
                <a:spcPts val="4759"/>
              </a:lnSpc>
              <a:spcBef>
                <a:spcPct val="0"/>
              </a:spcBef>
            </a:pPr>
            <a:r>
              <a:rPr lang="en-US" sz="3399">
                <a:solidFill>
                  <a:srgbClr val="D15353"/>
                </a:solidFill>
                <a:latin typeface="Alata"/>
                <a:ea typeface="Alata"/>
                <a:cs typeface="Alata"/>
                <a:sym typeface="Alata"/>
              </a:rPr>
              <a:t>USER</a:t>
            </a:r>
          </a:p>
        </p:txBody>
      </p:sp>
      <p:sp>
        <p:nvSpPr>
          <p:cNvPr id="16" name="TextBox 16"/>
          <p:cNvSpPr txBox="1"/>
          <p:nvPr/>
        </p:nvSpPr>
        <p:spPr>
          <a:xfrm>
            <a:off x="3121275" y="7017515"/>
            <a:ext cx="3088005" cy="580390"/>
          </a:xfrm>
          <a:prstGeom prst="rect">
            <a:avLst/>
          </a:prstGeom>
        </p:spPr>
        <p:txBody>
          <a:bodyPr lIns="0" tIns="0" rIns="0" bIns="0" rtlCol="0" anchor="t">
            <a:spAutoFit/>
          </a:bodyPr>
          <a:lstStyle/>
          <a:p>
            <a:pPr algn="ctr">
              <a:lnSpc>
                <a:spcPts val="4759"/>
              </a:lnSpc>
              <a:spcBef>
                <a:spcPct val="0"/>
              </a:spcBef>
            </a:pPr>
            <a:r>
              <a:rPr lang="en-US" sz="3399">
                <a:solidFill>
                  <a:srgbClr val="D15353"/>
                </a:solidFill>
                <a:latin typeface="Alata"/>
                <a:ea typeface="Alata"/>
                <a:cs typeface="Alata"/>
                <a:sym typeface="Alata"/>
              </a:rPr>
              <a:t> Processing Unit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6979616">
            <a:off x="7809083" y="6024590"/>
            <a:ext cx="11173984" cy="7393795"/>
          </a:xfrm>
          <a:custGeom>
            <a:avLst/>
            <a:gdLst/>
            <a:ahLst/>
            <a:cxnLst/>
            <a:rect l="l" t="t" r="r" b="b"/>
            <a:pathLst>
              <a:path w="11173984" h="7393795">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8960358" y="2774848"/>
            <a:ext cx="3733735" cy="6110492"/>
            <a:chOff x="0" y="0"/>
            <a:chExt cx="4978314" cy="8147323"/>
          </a:xfrm>
        </p:grpSpPr>
        <p:pic>
          <p:nvPicPr>
            <p:cNvPr id="4" name="Picture 4"/>
            <p:cNvPicPr>
              <a:picLocks noChangeAspect="1"/>
            </p:cNvPicPr>
            <p:nvPr/>
          </p:nvPicPr>
          <p:blipFill>
            <a:blip r:embed="rId4"/>
            <a:srcRect l="29606" r="29606"/>
            <a:stretch>
              <a:fillRect/>
            </a:stretch>
          </p:blipFill>
          <p:spPr>
            <a:xfrm>
              <a:off x="0" y="0"/>
              <a:ext cx="4978314" cy="8147323"/>
            </a:xfrm>
            <a:prstGeom prst="rect">
              <a:avLst/>
            </a:prstGeom>
          </p:spPr>
        </p:pic>
      </p:grpSp>
      <p:grpSp>
        <p:nvGrpSpPr>
          <p:cNvPr id="5" name="Group 5"/>
          <p:cNvGrpSpPr/>
          <p:nvPr/>
        </p:nvGrpSpPr>
        <p:grpSpPr>
          <a:xfrm>
            <a:off x="13306360" y="1877515"/>
            <a:ext cx="3765158" cy="6531971"/>
            <a:chOff x="0" y="0"/>
            <a:chExt cx="5020211" cy="8709294"/>
          </a:xfrm>
        </p:grpSpPr>
        <p:pic>
          <p:nvPicPr>
            <p:cNvPr id="6" name="Picture 6"/>
            <p:cNvPicPr>
              <a:picLocks noChangeAspect="1"/>
            </p:cNvPicPr>
            <p:nvPr/>
          </p:nvPicPr>
          <p:blipFill>
            <a:blip r:embed="rId5"/>
            <a:srcRect l="17064" r="44170"/>
            <a:stretch>
              <a:fillRect/>
            </a:stretch>
          </p:blipFill>
          <p:spPr>
            <a:xfrm>
              <a:off x="0" y="0"/>
              <a:ext cx="5020211" cy="8709294"/>
            </a:xfrm>
            <a:prstGeom prst="rect">
              <a:avLst/>
            </a:prstGeom>
          </p:spPr>
        </p:pic>
      </p:grpSp>
      <p:sp>
        <p:nvSpPr>
          <p:cNvPr id="7" name="AutoShape 7"/>
          <p:cNvSpPr/>
          <p:nvPr/>
        </p:nvSpPr>
        <p:spPr>
          <a:xfrm flipV="1">
            <a:off x="1802241" y="781350"/>
            <a:ext cx="0" cy="2293092"/>
          </a:xfrm>
          <a:prstGeom prst="line">
            <a:avLst/>
          </a:prstGeom>
          <a:ln w="133350" cap="flat">
            <a:solidFill>
              <a:srgbClr val="D15353"/>
            </a:solidFill>
            <a:prstDash val="solid"/>
            <a:headEnd type="none" w="sm" len="sm"/>
            <a:tailEnd type="none" w="sm" len="sm"/>
          </a:ln>
        </p:spPr>
      </p:sp>
      <p:sp>
        <p:nvSpPr>
          <p:cNvPr id="8" name="TextBox 8"/>
          <p:cNvSpPr txBox="1"/>
          <p:nvPr/>
        </p:nvSpPr>
        <p:spPr>
          <a:xfrm>
            <a:off x="2301152" y="1603273"/>
            <a:ext cx="6842848" cy="1171575"/>
          </a:xfrm>
          <a:prstGeom prst="rect">
            <a:avLst/>
          </a:prstGeom>
        </p:spPr>
        <p:txBody>
          <a:bodyPr lIns="0" tIns="0" rIns="0" bIns="0" rtlCol="0" anchor="t">
            <a:spAutoFit/>
          </a:bodyPr>
          <a:lstStyle/>
          <a:p>
            <a:pPr marL="0" lvl="0" indent="0" algn="l">
              <a:lnSpc>
                <a:spcPts val="9240"/>
              </a:lnSpc>
              <a:spcBef>
                <a:spcPct val="0"/>
              </a:spcBef>
            </a:pPr>
            <a:r>
              <a:rPr lang="en-US" sz="7700" b="1">
                <a:solidFill>
                  <a:srgbClr val="253439"/>
                </a:solidFill>
                <a:latin typeface="Glacial Indifference Bold"/>
                <a:ea typeface="Glacial Indifference Bold"/>
                <a:cs typeface="Glacial Indifference Bold"/>
                <a:sym typeface="Glacial Indifference Bold"/>
              </a:rPr>
              <a:t>YOLOV8N</a:t>
            </a:r>
          </a:p>
        </p:txBody>
      </p:sp>
      <p:sp>
        <p:nvSpPr>
          <p:cNvPr id="9" name="TextBox 9"/>
          <p:cNvSpPr txBox="1"/>
          <p:nvPr/>
        </p:nvSpPr>
        <p:spPr>
          <a:xfrm>
            <a:off x="1802241" y="3205603"/>
            <a:ext cx="6545849" cy="6284595"/>
          </a:xfrm>
          <a:prstGeom prst="rect">
            <a:avLst/>
          </a:prstGeom>
        </p:spPr>
        <p:txBody>
          <a:bodyPr lIns="0" tIns="0" rIns="0" bIns="0" rtlCol="0" anchor="t">
            <a:spAutoFit/>
          </a:bodyPr>
          <a:lstStyle/>
          <a:p>
            <a:pPr marL="0" lvl="1" indent="0" algn="l">
              <a:lnSpc>
                <a:spcPts val="4199"/>
              </a:lnSpc>
              <a:spcBef>
                <a:spcPct val="0"/>
              </a:spcBef>
            </a:pPr>
            <a:r>
              <a:rPr lang="en-US" sz="2799">
                <a:solidFill>
                  <a:srgbClr val="253439"/>
                </a:solidFill>
                <a:latin typeface="Poppins"/>
                <a:ea typeface="Poppins"/>
                <a:cs typeface="Poppins"/>
                <a:sym typeface="Poppins"/>
              </a:rPr>
              <a:t> It is a lightweight version of the YOLOv8 architecture. This version is designed for resource-constrained environments, offering faster inference speeds and lower computational requirements while maintaining good accuracy for object detection tasks. It’s ideal for applications where efficiency and speed are crucial, such as embedded systems, mobile devices, or edge computing scenarios.</a:t>
            </a:r>
          </a:p>
        </p:txBody>
      </p:sp>
      <p:sp>
        <p:nvSpPr>
          <p:cNvPr id="10" name="TextBox 10"/>
          <p:cNvSpPr txBox="1"/>
          <p:nvPr/>
        </p:nvSpPr>
        <p:spPr>
          <a:xfrm>
            <a:off x="2219000" y="771825"/>
            <a:ext cx="6842848" cy="1009650"/>
          </a:xfrm>
          <a:prstGeom prst="rect">
            <a:avLst/>
          </a:prstGeom>
        </p:spPr>
        <p:txBody>
          <a:bodyPr lIns="0" tIns="0" rIns="0" bIns="0" rtlCol="0" anchor="t">
            <a:spAutoFit/>
          </a:bodyPr>
          <a:lstStyle/>
          <a:p>
            <a:pPr marL="0" lvl="0" indent="0" algn="l">
              <a:lnSpc>
                <a:spcPts val="7920"/>
              </a:lnSpc>
              <a:spcBef>
                <a:spcPct val="0"/>
              </a:spcBef>
            </a:pPr>
            <a:r>
              <a:rPr lang="en-US" sz="6600">
                <a:solidFill>
                  <a:srgbClr val="253439"/>
                </a:solidFill>
                <a:latin typeface="HK Grotesk"/>
                <a:ea typeface="HK Grotesk"/>
                <a:cs typeface="HK Grotesk"/>
                <a:sym typeface="HK Grotesk"/>
              </a:rPr>
              <a:t>MODEL USED</a:t>
            </a:r>
          </a:p>
        </p:txBody>
      </p:sp>
      <p:sp>
        <p:nvSpPr>
          <p:cNvPr id="11" name="Freeform 11"/>
          <p:cNvSpPr/>
          <p:nvPr/>
        </p:nvSpPr>
        <p:spPr>
          <a:xfrm rot="10141669">
            <a:off x="10465707" y="-2260182"/>
            <a:ext cx="11677410" cy="7726910"/>
          </a:xfrm>
          <a:custGeom>
            <a:avLst/>
            <a:gdLst/>
            <a:ahLst/>
            <a:cxnLst/>
            <a:rect l="l" t="t" r="r" b="b"/>
            <a:pathLst>
              <a:path w="11677410" h="7726910">
                <a:moveTo>
                  <a:pt x="0" y="0"/>
                </a:moveTo>
                <a:lnTo>
                  <a:pt x="11677410" y="0"/>
                </a:lnTo>
                <a:lnTo>
                  <a:pt x="11677410" y="7726910"/>
                </a:lnTo>
                <a:lnTo>
                  <a:pt x="0" y="77269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572419" y="-788281"/>
            <a:ext cx="10586574" cy="12171720"/>
            <a:chOff x="0" y="0"/>
            <a:chExt cx="2195705" cy="2524471"/>
          </a:xfrm>
        </p:grpSpPr>
        <p:sp>
          <p:nvSpPr>
            <p:cNvPr id="3" name="Freeform 3"/>
            <p:cNvSpPr/>
            <p:nvPr/>
          </p:nvSpPr>
          <p:spPr>
            <a:xfrm>
              <a:off x="0" y="0"/>
              <a:ext cx="2195705" cy="2524471"/>
            </a:xfrm>
            <a:custGeom>
              <a:avLst/>
              <a:gdLst/>
              <a:ahLst/>
              <a:cxnLst/>
              <a:rect l="l" t="t" r="r" b="b"/>
              <a:pathLst>
                <a:path w="2195705" h="2524471">
                  <a:moveTo>
                    <a:pt x="0" y="0"/>
                  </a:moveTo>
                  <a:lnTo>
                    <a:pt x="2195705" y="0"/>
                  </a:lnTo>
                  <a:lnTo>
                    <a:pt x="2195705" y="2524471"/>
                  </a:lnTo>
                  <a:lnTo>
                    <a:pt x="0" y="2524471"/>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4" name="TextBox 4"/>
            <p:cNvSpPr txBox="1"/>
            <p:nvPr/>
          </p:nvSpPr>
          <p:spPr>
            <a:xfrm>
              <a:off x="0" y="9525"/>
              <a:ext cx="2195705" cy="2514946"/>
            </a:xfrm>
            <a:prstGeom prst="rect">
              <a:avLst/>
            </a:prstGeom>
          </p:spPr>
          <p:txBody>
            <a:bodyPr lIns="50800" tIns="50800" rIns="50800" bIns="50800" rtlCol="0" anchor="ctr"/>
            <a:lstStyle/>
            <a:p>
              <a:pPr algn="ctr">
                <a:lnSpc>
                  <a:spcPts val="1649"/>
                </a:lnSpc>
              </a:pPr>
              <a:endParaRPr/>
            </a:p>
          </p:txBody>
        </p:sp>
      </p:grpSp>
      <p:sp>
        <p:nvSpPr>
          <p:cNvPr id="5" name="Freeform 5"/>
          <p:cNvSpPr/>
          <p:nvPr/>
        </p:nvSpPr>
        <p:spPr>
          <a:xfrm rot="-10800000">
            <a:off x="14866948" y="0"/>
            <a:ext cx="20209482" cy="13372559"/>
          </a:xfrm>
          <a:custGeom>
            <a:avLst/>
            <a:gdLst/>
            <a:ahLst/>
            <a:cxnLst/>
            <a:rect l="l" t="t" r="r" b="b"/>
            <a:pathLst>
              <a:path w="20209482" h="13372559">
                <a:moveTo>
                  <a:pt x="0" y="0"/>
                </a:moveTo>
                <a:lnTo>
                  <a:pt x="20209482" y="0"/>
                </a:lnTo>
                <a:lnTo>
                  <a:pt x="20209482" y="13372559"/>
                </a:lnTo>
                <a:lnTo>
                  <a:pt x="0" y="133725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flipH="1">
            <a:off x="962025" y="117356"/>
            <a:ext cx="0" cy="1994341"/>
          </a:xfrm>
          <a:prstGeom prst="line">
            <a:avLst/>
          </a:prstGeom>
          <a:ln w="133350" cap="flat">
            <a:solidFill>
              <a:srgbClr val="D15353"/>
            </a:solidFill>
            <a:prstDash val="solid"/>
            <a:headEnd type="none" w="sm" len="sm"/>
            <a:tailEnd type="none" w="sm" len="sm"/>
          </a:ln>
        </p:spPr>
      </p:sp>
      <p:sp>
        <p:nvSpPr>
          <p:cNvPr id="7" name="Freeform 7"/>
          <p:cNvSpPr/>
          <p:nvPr/>
        </p:nvSpPr>
        <p:spPr>
          <a:xfrm>
            <a:off x="10575243" y="1028700"/>
            <a:ext cx="7119169" cy="3397996"/>
          </a:xfrm>
          <a:custGeom>
            <a:avLst/>
            <a:gdLst/>
            <a:ahLst/>
            <a:cxnLst/>
            <a:rect l="l" t="t" r="r" b="b"/>
            <a:pathLst>
              <a:path w="7119169" h="3397996">
                <a:moveTo>
                  <a:pt x="0" y="0"/>
                </a:moveTo>
                <a:lnTo>
                  <a:pt x="7119169" y="0"/>
                </a:lnTo>
                <a:lnTo>
                  <a:pt x="7119169" y="3397996"/>
                </a:lnTo>
                <a:lnTo>
                  <a:pt x="0" y="3397996"/>
                </a:lnTo>
                <a:lnTo>
                  <a:pt x="0" y="0"/>
                </a:lnTo>
                <a:close/>
              </a:path>
            </a:pathLst>
          </a:custGeom>
          <a:blipFill>
            <a:blip r:embed="rId4"/>
            <a:stretch>
              <a:fillRect b="-17849"/>
            </a:stretch>
          </a:blipFill>
        </p:spPr>
      </p:sp>
      <p:sp>
        <p:nvSpPr>
          <p:cNvPr id="8" name="Freeform 8"/>
          <p:cNvSpPr/>
          <p:nvPr/>
        </p:nvSpPr>
        <p:spPr>
          <a:xfrm>
            <a:off x="10575243" y="5575413"/>
            <a:ext cx="7090870" cy="3527416"/>
          </a:xfrm>
          <a:custGeom>
            <a:avLst/>
            <a:gdLst/>
            <a:ahLst/>
            <a:cxnLst/>
            <a:rect l="l" t="t" r="r" b="b"/>
            <a:pathLst>
              <a:path w="7090870" h="3527416">
                <a:moveTo>
                  <a:pt x="0" y="0"/>
                </a:moveTo>
                <a:lnTo>
                  <a:pt x="7090870" y="0"/>
                </a:lnTo>
                <a:lnTo>
                  <a:pt x="7090870" y="3527415"/>
                </a:lnTo>
                <a:lnTo>
                  <a:pt x="0" y="3527415"/>
                </a:lnTo>
                <a:lnTo>
                  <a:pt x="0" y="0"/>
                </a:lnTo>
                <a:close/>
              </a:path>
            </a:pathLst>
          </a:custGeom>
          <a:blipFill>
            <a:blip r:embed="rId5"/>
            <a:stretch>
              <a:fillRect t="-27611" r="-13509" b="-739"/>
            </a:stretch>
          </a:blipFill>
        </p:spPr>
      </p:sp>
      <p:sp>
        <p:nvSpPr>
          <p:cNvPr id="9" name="TextBox 9"/>
          <p:cNvSpPr txBox="1"/>
          <p:nvPr/>
        </p:nvSpPr>
        <p:spPr>
          <a:xfrm>
            <a:off x="1241592" y="179704"/>
            <a:ext cx="6575477" cy="1745616"/>
          </a:xfrm>
          <a:prstGeom prst="rect">
            <a:avLst/>
          </a:prstGeom>
        </p:spPr>
        <p:txBody>
          <a:bodyPr lIns="0" tIns="0" rIns="0" bIns="0" rtlCol="0" anchor="t">
            <a:spAutoFit/>
          </a:bodyPr>
          <a:lstStyle/>
          <a:p>
            <a:pPr algn="l">
              <a:lnSpc>
                <a:spcPts val="6820"/>
              </a:lnSpc>
            </a:pPr>
            <a:r>
              <a:rPr lang="en-US" sz="6200" b="1" spc="204">
                <a:solidFill>
                  <a:srgbClr val="000000"/>
                </a:solidFill>
                <a:latin typeface="Glacial Indifference Bold"/>
                <a:ea typeface="Glacial Indifference Bold"/>
                <a:cs typeface="Glacial Indifference Bold"/>
                <a:sym typeface="Glacial Indifference Bold"/>
              </a:rPr>
              <a:t>CURRENT LIMITATIONS</a:t>
            </a:r>
          </a:p>
        </p:txBody>
      </p:sp>
      <p:sp>
        <p:nvSpPr>
          <p:cNvPr id="10" name="TextBox 10"/>
          <p:cNvSpPr txBox="1"/>
          <p:nvPr/>
        </p:nvSpPr>
        <p:spPr>
          <a:xfrm>
            <a:off x="537369" y="2421946"/>
            <a:ext cx="4183499" cy="554355"/>
          </a:xfrm>
          <a:prstGeom prst="rect">
            <a:avLst/>
          </a:prstGeom>
        </p:spPr>
        <p:txBody>
          <a:bodyPr lIns="0" tIns="0" rIns="0" bIns="0" rtlCol="0" anchor="t">
            <a:spAutoFit/>
          </a:bodyPr>
          <a:lstStyle/>
          <a:p>
            <a:pPr algn="ctr">
              <a:lnSpc>
                <a:spcPts val="4620"/>
              </a:lnSpc>
              <a:spcBef>
                <a:spcPct val="0"/>
              </a:spcBef>
            </a:pPr>
            <a:r>
              <a:rPr lang="en-US" sz="3300">
                <a:solidFill>
                  <a:srgbClr val="000000"/>
                </a:solidFill>
                <a:latin typeface="Alata"/>
                <a:ea typeface="Alata"/>
                <a:cs typeface="Alata"/>
                <a:sym typeface="Alata"/>
              </a:rPr>
              <a:t>Hardware Limitations:</a:t>
            </a:r>
          </a:p>
        </p:txBody>
      </p:sp>
      <p:sp>
        <p:nvSpPr>
          <p:cNvPr id="11" name="TextBox 11"/>
          <p:cNvSpPr txBox="1"/>
          <p:nvPr/>
        </p:nvSpPr>
        <p:spPr>
          <a:xfrm>
            <a:off x="376441" y="3392033"/>
            <a:ext cx="9145388" cy="4554724"/>
          </a:xfrm>
          <a:prstGeom prst="rect">
            <a:avLst/>
          </a:prstGeom>
        </p:spPr>
        <p:txBody>
          <a:bodyPr lIns="0" tIns="0" rIns="0" bIns="0" rtlCol="0" anchor="t">
            <a:spAutoFit/>
          </a:bodyPr>
          <a:lstStyle/>
          <a:p>
            <a:pPr marL="470731" lvl="1" indent="-235365" algn="just">
              <a:lnSpc>
                <a:spcPts val="3052"/>
              </a:lnSpc>
              <a:buFont typeface="Arial"/>
              <a:buChar char="•"/>
            </a:pPr>
            <a:r>
              <a:rPr lang="en-US" sz="2180" u="sng">
                <a:solidFill>
                  <a:srgbClr val="000000"/>
                </a:solidFill>
                <a:latin typeface="Alata"/>
                <a:ea typeface="Alata"/>
                <a:cs typeface="Alata"/>
                <a:sym typeface="Alata"/>
              </a:rPr>
              <a:t>Raspberry Pi 4 (2GB RAM)</a:t>
            </a:r>
            <a:r>
              <a:rPr lang="en-US" sz="2180">
                <a:solidFill>
                  <a:srgbClr val="000000"/>
                </a:solidFill>
                <a:latin typeface="Alata"/>
                <a:ea typeface="Alata"/>
                <a:cs typeface="Alata"/>
                <a:sym typeface="Alata"/>
              </a:rPr>
              <a:t>: Limited processing power may cause delays in transfer of camera feed. Upgrading to a Raspberry Pi 5 may improve performance.</a:t>
            </a:r>
          </a:p>
          <a:p>
            <a:pPr algn="just">
              <a:lnSpc>
                <a:spcPts val="3052"/>
              </a:lnSpc>
            </a:pPr>
            <a:endParaRPr lang="en-US" sz="2180">
              <a:solidFill>
                <a:srgbClr val="000000"/>
              </a:solidFill>
              <a:latin typeface="Alata"/>
              <a:ea typeface="Alata"/>
              <a:cs typeface="Alata"/>
              <a:sym typeface="Alata"/>
            </a:endParaRPr>
          </a:p>
          <a:p>
            <a:pPr marL="470661" lvl="1" indent="-235330" algn="just">
              <a:lnSpc>
                <a:spcPts val="3051"/>
              </a:lnSpc>
              <a:buFont typeface="Arial"/>
              <a:buChar char="•"/>
            </a:pPr>
            <a:r>
              <a:rPr lang="en-US" sz="2179" u="sng">
                <a:solidFill>
                  <a:srgbClr val="000000"/>
                </a:solidFill>
                <a:latin typeface="Alata"/>
                <a:ea typeface="Alata"/>
                <a:cs typeface="Alata"/>
                <a:sym typeface="Alata"/>
              </a:rPr>
              <a:t>Camera Resolution:</a:t>
            </a:r>
            <a:r>
              <a:rPr lang="en-US" sz="2179">
                <a:solidFill>
                  <a:srgbClr val="000000"/>
                </a:solidFill>
                <a:latin typeface="Alata"/>
                <a:ea typeface="Alata"/>
                <a:cs typeface="Alata"/>
                <a:sym typeface="Alata"/>
              </a:rPr>
              <a:t> The Raspberry Pi Camera's resolution may not be enough for detecting obstacles at longer distances or in more complex environments.</a:t>
            </a:r>
          </a:p>
          <a:p>
            <a:pPr algn="just">
              <a:lnSpc>
                <a:spcPts val="3051"/>
              </a:lnSpc>
            </a:pPr>
            <a:r>
              <a:rPr lang="en-US" sz="2179">
                <a:solidFill>
                  <a:srgbClr val="000000"/>
                </a:solidFill>
                <a:latin typeface="Alata"/>
                <a:ea typeface="Alata"/>
                <a:cs typeface="Alata"/>
                <a:sym typeface="Alata"/>
              </a:rPr>
              <a:t> </a:t>
            </a:r>
          </a:p>
          <a:p>
            <a:pPr marL="470661" lvl="1" indent="-235330" algn="just">
              <a:lnSpc>
                <a:spcPts val="3051"/>
              </a:lnSpc>
              <a:buFont typeface="Arial"/>
              <a:buChar char="•"/>
            </a:pPr>
            <a:r>
              <a:rPr lang="en-US" sz="2179" u="sng">
                <a:solidFill>
                  <a:srgbClr val="000000"/>
                </a:solidFill>
                <a:latin typeface="Alata"/>
                <a:ea typeface="Alata"/>
                <a:cs typeface="Alata"/>
                <a:sym typeface="Alata"/>
              </a:rPr>
              <a:t>NightVision:</a:t>
            </a:r>
            <a:r>
              <a:rPr lang="en-US" sz="2179">
                <a:solidFill>
                  <a:srgbClr val="000000"/>
                </a:solidFill>
                <a:latin typeface="Alata"/>
                <a:ea typeface="Alata"/>
                <a:cs typeface="Alata"/>
                <a:sym typeface="Alata"/>
              </a:rPr>
              <a:t> Due to the lack of light it may not perform object detection</a:t>
            </a:r>
          </a:p>
          <a:p>
            <a:pPr algn="just">
              <a:lnSpc>
                <a:spcPts val="3051"/>
              </a:lnSpc>
            </a:pPr>
            <a:r>
              <a:rPr lang="en-US" sz="2179">
                <a:solidFill>
                  <a:srgbClr val="000000"/>
                </a:solidFill>
                <a:latin typeface="Alata"/>
                <a:ea typeface="Alata"/>
                <a:cs typeface="Alata"/>
                <a:sym typeface="Alata"/>
              </a:rPr>
              <a:t>      during the night too well. Even with the infrared sensor it may be too </a:t>
            </a:r>
          </a:p>
          <a:p>
            <a:pPr algn="just">
              <a:lnSpc>
                <a:spcPts val="3051"/>
              </a:lnSpc>
            </a:pPr>
            <a:r>
              <a:rPr lang="en-US" sz="2179">
                <a:solidFill>
                  <a:srgbClr val="000000"/>
                </a:solidFill>
                <a:latin typeface="Alata"/>
                <a:ea typeface="Alata"/>
                <a:cs typeface="Alata"/>
                <a:sym typeface="Alata"/>
              </a:rPr>
              <a:t>      risky to use this device in low light conditions.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572419" y="-788281"/>
            <a:ext cx="10586574" cy="12171720"/>
            <a:chOff x="0" y="0"/>
            <a:chExt cx="2195705" cy="2524471"/>
          </a:xfrm>
        </p:grpSpPr>
        <p:sp>
          <p:nvSpPr>
            <p:cNvPr id="3" name="Freeform 3"/>
            <p:cNvSpPr/>
            <p:nvPr/>
          </p:nvSpPr>
          <p:spPr>
            <a:xfrm>
              <a:off x="0" y="0"/>
              <a:ext cx="2195705" cy="2524471"/>
            </a:xfrm>
            <a:custGeom>
              <a:avLst/>
              <a:gdLst/>
              <a:ahLst/>
              <a:cxnLst/>
              <a:rect l="l" t="t" r="r" b="b"/>
              <a:pathLst>
                <a:path w="2195705" h="2524471">
                  <a:moveTo>
                    <a:pt x="0" y="0"/>
                  </a:moveTo>
                  <a:lnTo>
                    <a:pt x="2195705" y="0"/>
                  </a:lnTo>
                  <a:lnTo>
                    <a:pt x="2195705" y="2524471"/>
                  </a:lnTo>
                  <a:lnTo>
                    <a:pt x="0" y="2524471"/>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4" name="TextBox 4"/>
            <p:cNvSpPr txBox="1"/>
            <p:nvPr/>
          </p:nvSpPr>
          <p:spPr>
            <a:xfrm>
              <a:off x="0" y="9525"/>
              <a:ext cx="2195705" cy="2514946"/>
            </a:xfrm>
            <a:prstGeom prst="rect">
              <a:avLst/>
            </a:prstGeom>
          </p:spPr>
          <p:txBody>
            <a:bodyPr lIns="50800" tIns="50800" rIns="50800" bIns="50800" rtlCol="0" anchor="ctr"/>
            <a:lstStyle/>
            <a:p>
              <a:pPr algn="ctr">
                <a:lnSpc>
                  <a:spcPts val="1649"/>
                </a:lnSpc>
              </a:pPr>
              <a:endParaRPr/>
            </a:p>
          </p:txBody>
        </p:sp>
      </p:grpSp>
      <p:sp>
        <p:nvSpPr>
          <p:cNvPr id="5" name="AutoShape 5"/>
          <p:cNvSpPr/>
          <p:nvPr/>
        </p:nvSpPr>
        <p:spPr>
          <a:xfrm flipH="1">
            <a:off x="962025" y="117356"/>
            <a:ext cx="0" cy="1994341"/>
          </a:xfrm>
          <a:prstGeom prst="line">
            <a:avLst/>
          </a:prstGeom>
          <a:ln w="133350" cap="flat">
            <a:solidFill>
              <a:srgbClr val="D15353"/>
            </a:solidFill>
            <a:prstDash val="solid"/>
            <a:headEnd type="none" w="sm" len="sm"/>
            <a:tailEnd type="none" w="sm" len="sm"/>
          </a:ln>
        </p:spPr>
      </p:sp>
      <p:grpSp>
        <p:nvGrpSpPr>
          <p:cNvPr id="6" name="Group 6"/>
          <p:cNvGrpSpPr/>
          <p:nvPr/>
        </p:nvGrpSpPr>
        <p:grpSpPr>
          <a:xfrm>
            <a:off x="11017999" y="551650"/>
            <a:ext cx="6403578" cy="5023763"/>
            <a:chOff x="0" y="0"/>
            <a:chExt cx="1686539" cy="1323131"/>
          </a:xfrm>
        </p:grpSpPr>
        <p:sp>
          <p:nvSpPr>
            <p:cNvPr id="7" name="Freeform 7"/>
            <p:cNvSpPr/>
            <p:nvPr/>
          </p:nvSpPr>
          <p:spPr>
            <a:xfrm>
              <a:off x="0" y="0"/>
              <a:ext cx="1686539" cy="1323131"/>
            </a:xfrm>
            <a:custGeom>
              <a:avLst/>
              <a:gdLst/>
              <a:ahLst/>
              <a:cxnLst/>
              <a:rect l="l" t="t" r="r" b="b"/>
              <a:pathLst>
                <a:path w="1686539" h="1323131">
                  <a:moveTo>
                    <a:pt x="0" y="0"/>
                  </a:moveTo>
                  <a:lnTo>
                    <a:pt x="1686539" y="0"/>
                  </a:lnTo>
                  <a:lnTo>
                    <a:pt x="1686539" y="1323131"/>
                  </a:lnTo>
                  <a:lnTo>
                    <a:pt x="0" y="1323131"/>
                  </a:lnTo>
                  <a:close/>
                </a:path>
              </a:pathLst>
            </a:custGeom>
            <a:solidFill>
              <a:srgbClr val="D9D5D0"/>
            </a:solidFill>
          </p:spPr>
        </p:sp>
        <p:sp>
          <p:nvSpPr>
            <p:cNvPr id="8" name="TextBox 8"/>
            <p:cNvSpPr txBox="1"/>
            <p:nvPr/>
          </p:nvSpPr>
          <p:spPr>
            <a:xfrm>
              <a:off x="0" y="-47625"/>
              <a:ext cx="1686539" cy="1370756"/>
            </a:xfrm>
            <a:prstGeom prst="rect">
              <a:avLst/>
            </a:prstGeom>
          </p:spPr>
          <p:txBody>
            <a:bodyPr lIns="50800" tIns="50800" rIns="50800" bIns="50800" rtlCol="0" anchor="ctr"/>
            <a:lstStyle/>
            <a:p>
              <a:pPr algn="ctr">
                <a:lnSpc>
                  <a:spcPts val="3244"/>
                </a:lnSpc>
              </a:pPr>
              <a:endParaRPr/>
            </a:p>
          </p:txBody>
        </p:sp>
      </p:grpSp>
      <p:sp>
        <p:nvSpPr>
          <p:cNvPr id="9" name="Freeform 9"/>
          <p:cNvSpPr/>
          <p:nvPr/>
        </p:nvSpPr>
        <p:spPr>
          <a:xfrm>
            <a:off x="12028319" y="551650"/>
            <a:ext cx="4382939" cy="5023763"/>
          </a:xfrm>
          <a:custGeom>
            <a:avLst/>
            <a:gdLst/>
            <a:ahLst/>
            <a:cxnLst/>
            <a:rect l="l" t="t" r="r" b="b"/>
            <a:pathLst>
              <a:path w="4382939" h="5023763">
                <a:moveTo>
                  <a:pt x="0" y="0"/>
                </a:moveTo>
                <a:lnTo>
                  <a:pt x="4382939" y="0"/>
                </a:lnTo>
                <a:lnTo>
                  <a:pt x="4382939" y="5023763"/>
                </a:lnTo>
                <a:lnTo>
                  <a:pt x="0" y="5023763"/>
                </a:lnTo>
                <a:lnTo>
                  <a:pt x="0" y="0"/>
                </a:lnTo>
                <a:close/>
              </a:path>
            </a:pathLst>
          </a:custGeom>
          <a:blipFill>
            <a:blip r:embed="rId2"/>
            <a:stretch>
              <a:fillRect t="-12124" b="-42821"/>
            </a:stretch>
          </a:blipFill>
        </p:spPr>
      </p:sp>
      <p:grpSp>
        <p:nvGrpSpPr>
          <p:cNvPr id="10" name="Group 10"/>
          <p:cNvGrpSpPr/>
          <p:nvPr/>
        </p:nvGrpSpPr>
        <p:grpSpPr>
          <a:xfrm>
            <a:off x="11017999" y="5824015"/>
            <a:ext cx="6403578" cy="4010599"/>
            <a:chOff x="0" y="0"/>
            <a:chExt cx="1686539" cy="1056289"/>
          </a:xfrm>
        </p:grpSpPr>
        <p:sp>
          <p:nvSpPr>
            <p:cNvPr id="11" name="Freeform 11"/>
            <p:cNvSpPr/>
            <p:nvPr/>
          </p:nvSpPr>
          <p:spPr>
            <a:xfrm>
              <a:off x="0" y="0"/>
              <a:ext cx="1686539" cy="1056289"/>
            </a:xfrm>
            <a:custGeom>
              <a:avLst/>
              <a:gdLst/>
              <a:ahLst/>
              <a:cxnLst/>
              <a:rect l="l" t="t" r="r" b="b"/>
              <a:pathLst>
                <a:path w="1686539" h="1056289">
                  <a:moveTo>
                    <a:pt x="0" y="0"/>
                  </a:moveTo>
                  <a:lnTo>
                    <a:pt x="1686539" y="0"/>
                  </a:lnTo>
                  <a:lnTo>
                    <a:pt x="1686539" y="1056289"/>
                  </a:lnTo>
                  <a:lnTo>
                    <a:pt x="0" y="1056289"/>
                  </a:lnTo>
                  <a:close/>
                </a:path>
              </a:pathLst>
            </a:custGeom>
            <a:solidFill>
              <a:srgbClr val="D9D5D0"/>
            </a:solidFill>
          </p:spPr>
        </p:sp>
        <p:sp>
          <p:nvSpPr>
            <p:cNvPr id="12" name="TextBox 12"/>
            <p:cNvSpPr txBox="1"/>
            <p:nvPr/>
          </p:nvSpPr>
          <p:spPr>
            <a:xfrm>
              <a:off x="0" y="-47625"/>
              <a:ext cx="1686539" cy="1103914"/>
            </a:xfrm>
            <a:prstGeom prst="rect">
              <a:avLst/>
            </a:prstGeom>
          </p:spPr>
          <p:txBody>
            <a:bodyPr lIns="50800" tIns="50800" rIns="50800" bIns="50800" rtlCol="0" anchor="ctr"/>
            <a:lstStyle/>
            <a:p>
              <a:pPr algn="ctr">
                <a:lnSpc>
                  <a:spcPts val="3244"/>
                </a:lnSpc>
              </a:pPr>
              <a:endParaRPr/>
            </a:p>
          </p:txBody>
        </p:sp>
      </p:grpSp>
      <p:sp>
        <p:nvSpPr>
          <p:cNvPr id="13" name="Freeform 13"/>
          <p:cNvSpPr/>
          <p:nvPr/>
        </p:nvSpPr>
        <p:spPr>
          <a:xfrm rot="-5616713">
            <a:off x="12582210" y="4079529"/>
            <a:ext cx="4491454" cy="7976822"/>
          </a:xfrm>
          <a:custGeom>
            <a:avLst/>
            <a:gdLst/>
            <a:ahLst/>
            <a:cxnLst/>
            <a:rect l="l" t="t" r="r" b="b"/>
            <a:pathLst>
              <a:path w="4491454" h="7976822">
                <a:moveTo>
                  <a:pt x="0" y="0"/>
                </a:moveTo>
                <a:lnTo>
                  <a:pt x="4491453" y="0"/>
                </a:lnTo>
                <a:lnTo>
                  <a:pt x="4491453" y="7976822"/>
                </a:lnTo>
                <a:lnTo>
                  <a:pt x="0" y="7976822"/>
                </a:lnTo>
                <a:lnTo>
                  <a:pt x="0" y="0"/>
                </a:lnTo>
                <a:close/>
              </a:path>
            </a:pathLst>
          </a:custGeom>
          <a:blipFill>
            <a:blip r:embed="rId3"/>
            <a:stretch>
              <a:fillRect/>
            </a:stretch>
          </a:blipFill>
        </p:spPr>
      </p:sp>
      <p:sp>
        <p:nvSpPr>
          <p:cNvPr id="14" name="TextBox 14"/>
          <p:cNvSpPr txBox="1"/>
          <p:nvPr/>
        </p:nvSpPr>
        <p:spPr>
          <a:xfrm>
            <a:off x="1241592" y="179704"/>
            <a:ext cx="6575477" cy="1745616"/>
          </a:xfrm>
          <a:prstGeom prst="rect">
            <a:avLst/>
          </a:prstGeom>
        </p:spPr>
        <p:txBody>
          <a:bodyPr lIns="0" tIns="0" rIns="0" bIns="0" rtlCol="0" anchor="t">
            <a:spAutoFit/>
          </a:bodyPr>
          <a:lstStyle/>
          <a:p>
            <a:pPr algn="l">
              <a:lnSpc>
                <a:spcPts val="6820"/>
              </a:lnSpc>
            </a:pPr>
            <a:r>
              <a:rPr lang="en-US" sz="6200" b="1" spc="204">
                <a:solidFill>
                  <a:srgbClr val="000000"/>
                </a:solidFill>
                <a:latin typeface="Glacial Indifference Bold"/>
                <a:ea typeface="Glacial Indifference Bold"/>
                <a:cs typeface="Glacial Indifference Bold"/>
                <a:sym typeface="Glacial Indifference Bold"/>
              </a:rPr>
              <a:t>CURRENT LIMITATIONS</a:t>
            </a:r>
          </a:p>
        </p:txBody>
      </p:sp>
      <p:sp>
        <p:nvSpPr>
          <p:cNvPr id="15" name="TextBox 15"/>
          <p:cNvSpPr txBox="1"/>
          <p:nvPr/>
        </p:nvSpPr>
        <p:spPr>
          <a:xfrm>
            <a:off x="566465" y="2294920"/>
            <a:ext cx="3750945" cy="554355"/>
          </a:xfrm>
          <a:prstGeom prst="rect">
            <a:avLst/>
          </a:prstGeom>
        </p:spPr>
        <p:txBody>
          <a:bodyPr lIns="0" tIns="0" rIns="0" bIns="0" rtlCol="0" anchor="t">
            <a:spAutoFit/>
          </a:bodyPr>
          <a:lstStyle/>
          <a:p>
            <a:pPr algn="ctr">
              <a:lnSpc>
                <a:spcPts val="4620"/>
              </a:lnSpc>
              <a:spcBef>
                <a:spcPct val="0"/>
              </a:spcBef>
            </a:pPr>
            <a:r>
              <a:rPr lang="en-US" sz="3300">
                <a:solidFill>
                  <a:srgbClr val="000000"/>
                </a:solidFill>
                <a:latin typeface="Alata"/>
                <a:ea typeface="Alata"/>
                <a:cs typeface="Alata"/>
                <a:sym typeface="Alata"/>
              </a:rPr>
              <a:t>Detection Accuracy:</a:t>
            </a:r>
          </a:p>
        </p:txBody>
      </p:sp>
      <p:sp>
        <p:nvSpPr>
          <p:cNvPr id="16" name="TextBox 16"/>
          <p:cNvSpPr txBox="1"/>
          <p:nvPr/>
        </p:nvSpPr>
        <p:spPr>
          <a:xfrm>
            <a:off x="566465" y="3165639"/>
            <a:ext cx="8742392" cy="2082673"/>
          </a:xfrm>
          <a:prstGeom prst="rect">
            <a:avLst/>
          </a:prstGeom>
        </p:spPr>
        <p:txBody>
          <a:bodyPr lIns="0" tIns="0" rIns="0" bIns="0" rtlCol="0" anchor="t">
            <a:spAutoFit/>
          </a:bodyPr>
          <a:lstStyle/>
          <a:p>
            <a:pPr marL="513841" lvl="1" indent="-256921" algn="l">
              <a:lnSpc>
                <a:spcPts val="3331"/>
              </a:lnSpc>
              <a:buFont typeface="Arial"/>
              <a:buChar char="•"/>
            </a:pPr>
            <a:r>
              <a:rPr lang="en-US" sz="2379" u="sng">
                <a:solidFill>
                  <a:srgbClr val="000000"/>
                </a:solidFill>
                <a:latin typeface="Alata"/>
                <a:ea typeface="Alata"/>
                <a:cs typeface="Alata"/>
                <a:sym typeface="Alata"/>
              </a:rPr>
              <a:t>Lighting Conditions:</a:t>
            </a:r>
            <a:r>
              <a:rPr lang="en-US" sz="2379">
                <a:solidFill>
                  <a:srgbClr val="000000"/>
                </a:solidFill>
                <a:latin typeface="Alata"/>
                <a:ea typeface="Alata"/>
                <a:cs typeface="Alata"/>
                <a:sym typeface="Alata"/>
              </a:rPr>
              <a:t> Poor lighting or direct sunlight can negatively affect obstacle detection.</a:t>
            </a:r>
          </a:p>
          <a:p>
            <a:pPr algn="l">
              <a:lnSpc>
                <a:spcPts val="3331"/>
              </a:lnSpc>
            </a:pPr>
            <a:endParaRPr lang="en-US" sz="2379">
              <a:solidFill>
                <a:srgbClr val="000000"/>
              </a:solidFill>
              <a:latin typeface="Alata"/>
              <a:ea typeface="Alata"/>
              <a:cs typeface="Alata"/>
              <a:sym typeface="Alata"/>
            </a:endParaRPr>
          </a:p>
          <a:p>
            <a:pPr marL="513841" lvl="1" indent="-256921" algn="l">
              <a:lnSpc>
                <a:spcPts val="3331"/>
              </a:lnSpc>
              <a:buFont typeface="Arial"/>
              <a:buChar char="•"/>
            </a:pPr>
            <a:r>
              <a:rPr lang="en-US" sz="2379" u="sng">
                <a:solidFill>
                  <a:srgbClr val="000000"/>
                </a:solidFill>
                <a:latin typeface="Alata"/>
                <a:ea typeface="Alata"/>
                <a:cs typeface="Alata"/>
                <a:sym typeface="Alata"/>
              </a:rPr>
              <a:t>Object Recognition</a:t>
            </a:r>
            <a:r>
              <a:rPr lang="en-US" sz="2379">
                <a:solidFill>
                  <a:srgbClr val="000000"/>
                </a:solidFill>
                <a:latin typeface="Alata"/>
                <a:ea typeface="Alata"/>
                <a:cs typeface="Alata"/>
                <a:sym typeface="Alata"/>
              </a:rPr>
              <a:t>: Small or irregularly shaped obstacles may not be detected reliably.</a:t>
            </a:r>
          </a:p>
        </p:txBody>
      </p:sp>
      <p:sp>
        <p:nvSpPr>
          <p:cNvPr id="17" name="TextBox 17"/>
          <p:cNvSpPr txBox="1"/>
          <p:nvPr/>
        </p:nvSpPr>
        <p:spPr>
          <a:xfrm>
            <a:off x="566465" y="5518263"/>
            <a:ext cx="3129915" cy="554355"/>
          </a:xfrm>
          <a:prstGeom prst="rect">
            <a:avLst/>
          </a:prstGeom>
        </p:spPr>
        <p:txBody>
          <a:bodyPr lIns="0" tIns="0" rIns="0" bIns="0" rtlCol="0" anchor="t">
            <a:spAutoFit/>
          </a:bodyPr>
          <a:lstStyle/>
          <a:p>
            <a:pPr algn="ctr">
              <a:lnSpc>
                <a:spcPts val="4620"/>
              </a:lnSpc>
              <a:spcBef>
                <a:spcPct val="0"/>
              </a:spcBef>
            </a:pPr>
            <a:r>
              <a:rPr lang="en-US" sz="3300">
                <a:solidFill>
                  <a:srgbClr val="000000"/>
                </a:solidFill>
                <a:latin typeface="Alata"/>
                <a:ea typeface="Alata"/>
                <a:cs typeface="Alata"/>
                <a:sym typeface="Alata"/>
              </a:rPr>
              <a:t>User Interaction:</a:t>
            </a:r>
          </a:p>
        </p:txBody>
      </p:sp>
      <p:sp>
        <p:nvSpPr>
          <p:cNvPr id="18" name="TextBox 18"/>
          <p:cNvSpPr txBox="1"/>
          <p:nvPr/>
        </p:nvSpPr>
        <p:spPr>
          <a:xfrm>
            <a:off x="687236" y="6263118"/>
            <a:ext cx="8456764" cy="2920802"/>
          </a:xfrm>
          <a:prstGeom prst="rect">
            <a:avLst/>
          </a:prstGeom>
        </p:spPr>
        <p:txBody>
          <a:bodyPr lIns="0" tIns="0" rIns="0" bIns="0" rtlCol="0" anchor="t">
            <a:spAutoFit/>
          </a:bodyPr>
          <a:lstStyle/>
          <a:p>
            <a:pPr marL="514444" lvl="1" indent="-257222" algn="l">
              <a:lnSpc>
                <a:spcPts val="3335"/>
              </a:lnSpc>
              <a:buFont typeface="Arial"/>
              <a:buChar char="•"/>
            </a:pPr>
            <a:r>
              <a:rPr lang="en-US" sz="2382" u="sng">
                <a:solidFill>
                  <a:srgbClr val="000000"/>
                </a:solidFill>
                <a:latin typeface="Alata"/>
                <a:ea typeface="Alata"/>
                <a:cs typeface="Alata"/>
                <a:sym typeface="Alata"/>
              </a:rPr>
              <a:t>Limited Language Support: </a:t>
            </a:r>
            <a:r>
              <a:rPr lang="en-US" sz="2382">
                <a:solidFill>
                  <a:srgbClr val="000000"/>
                </a:solidFill>
                <a:latin typeface="Alata"/>
                <a:ea typeface="Alata"/>
                <a:cs typeface="Alata"/>
                <a:sym typeface="Alata"/>
              </a:rPr>
              <a:t>The system currently supports only English. Expanding to multiple languages would increase accessibility.</a:t>
            </a:r>
          </a:p>
          <a:p>
            <a:pPr algn="l">
              <a:lnSpc>
                <a:spcPts val="3335"/>
              </a:lnSpc>
            </a:pPr>
            <a:endParaRPr lang="en-US" sz="2382">
              <a:solidFill>
                <a:srgbClr val="000000"/>
              </a:solidFill>
              <a:latin typeface="Alata"/>
              <a:ea typeface="Alata"/>
              <a:cs typeface="Alata"/>
              <a:sym typeface="Alata"/>
            </a:endParaRPr>
          </a:p>
          <a:p>
            <a:pPr marL="514444" lvl="1" indent="-257222" algn="l">
              <a:lnSpc>
                <a:spcPts val="3335"/>
              </a:lnSpc>
              <a:buFont typeface="Arial"/>
              <a:buChar char="•"/>
            </a:pPr>
            <a:r>
              <a:rPr lang="en-US" sz="2382" u="sng">
                <a:solidFill>
                  <a:srgbClr val="000000"/>
                </a:solidFill>
                <a:latin typeface="Alata"/>
                <a:ea typeface="Alata"/>
                <a:cs typeface="Alata"/>
                <a:sym typeface="Alata"/>
              </a:rPr>
              <a:t>No Haptic Feedback</a:t>
            </a:r>
            <a:r>
              <a:rPr lang="en-US" sz="2382">
                <a:solidFill>
                  <a:srgbClr val="000000"/>
                </a:solidFill>
                <a:latin typeface="Alata"/>
                <a:ea typeface="Alata"/>
                <a:cs typeface="Alata"/>
                <a:sym typeface="Alata"/>
              </a:rPr>
              <a:t>: The system lacks vibration-based alerts, which would be helpful in noisy or dynamic environments.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015114">
            <a:off x="9740863" y="2343404"/>
            <a:ext cx="15802157" cy="9423832"/>
          </a:xfrm>
          <a:custGeom>
            <a:avLst/>
            <a:gdLst/>
            <a:ahLst/>
            <a:cxnLst/>
            <a:rect l="l" t="t" r="r" b="b"/>
            <a:pathLst>
              <a:path w="15802157" h="9423832">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3280994" y="3129784"/>
            <a:ext cx="10287000" cy="4027431"/>
          </a:xfrm>
          <a:custGeom>
            <a:avLst/>
            <a:gdLst/>
            <a:ahLst/>
            <a:cxnLst/>
            <a:rect l="l" t="t" r="r" b="b"/>
            <a:pathLst>
              <a:path w="10287000" h="4027431">
                <a:moveTo>
                  <a:pt x="0" y="0"/>
                </a:moveTo>
                <a:lnTo>
                  <a:pt x="10287000" y="0"/>
                </a:lnTo>
                <a:lnTo>
                  <a:pt x="10287000" y="4027432"/>
                </a:lnTo>
                <a:lnTo>
                  <a:pt x="0" y="4027432"/>
                </a:lnTo>
                <a:lnTo>
                  <a:pt x="0" y="0"/>
                </a:lnTo>
                <a:close/>
              </a:path>
            </a:pathLst>
          </a:custGeom>
          <a:blipFill>
            <a:blip r:embed="rId4">
              <a:alphaModFix amt="48000"/>
              <a:extLst>
                <a:ext uri="{96DAC541-7B7A-43D3-8B79-37D633B846F1}">
                  <asvg:svgBlip xmlns:asvg="http://schemas.microsoft.com/office/drawing/2016/SVG/main" r:embed="rId5"/>
                </a:ext>
              </a:extLst>
            </a:blip>
            <a:stretch>
              <a:fillRect l="-8055" t="-76867" r="-8055"/>
            </a:stretch>
          </a:blipFill>
          <a:ln cap="sq">
            <a:noFill/>
            <a:prstDash val="lgDash"/>
            <a:miter/>
          </a:ln>
        </p:spPr>
      </p:sp>
      <p:grpSp>
        <p:nvGrpSpPr>
          <p:cNvPr id="4" name="Group 4"/>
          <p:cNvGrpSpPr/>
          <p:nvPr/>
        </p:nvGrpSpPr>
        <p:grpSpPr>
          <a:xfrm>
            <a:off x="381172" y="338510"/>
            <a:ext cx="17651665" cy="9609981"/>
            <a:chOff x="0" y="0"/>
            <a:chExt cx="4648998" cy="2531024"/>
          </a:xfrm>
        </p:grpSpPr>
        <p:sp>
          <p:nvSpPr>
            <p:cNvPr id="5" name="Freeform 5"/>
            <p:cNvSpPr/>
            <p:nvPr/>
          </p:nvSpPr>
          <p:spPr>
            <a:xfrm>
              <a:off x="0" y="0"/>
              <a:ext cx="4648998" cy="2531024"/>
            </a:xfrm>
            <a:custGeom>
              <a:avLst/>
              <a:gdLst/>
              <a:ahLst/>
              <a:cxnLst/>
              <a:rect l="l" t="t" r="r" b="b"/>
              <a:pathLst>
                <a:path w="4648998" h="2531024">
                  <a:moveTo>
                    <a:pt x="0" y="0"/>
                  </a:moveTo>
                  <a:lnTo>
                    <a:pt x="4648998" y="0"/>
                  </a:lnTo>
                  <a:lnTo>
                    <a:pt x="4648998" y="2531024"/>
                  </a:lnTo>
                  <a:lnTo>
                    <a:pt x="0" y="2531024"/>
                  </a:lnTo>
                  <a:close/>
                </a:path>
              </a:pathLst>
            </a:custGeom>
            <a:gradFill rotWithShape="1">
              <a:gsLst>
                <a:gs pos="0">
                  <a:srgbClr val="FDF7EF">
                    <a:alpha val="100000"/>
                  </a:srgbClr>
                </a:gs>
                <a:gs pos="100000">
                  <a:srgbClr val="FFFFFF">
                    <a:alpha val="100000"/>
                  </a:srgbClr>
                </a:gs>
              </a:gsLst>
              <a:lin ang="0"/>
            </a:gradFill>
            <a:ln w="38100" cap="sq">
              <a:solidFill>
                <a:srgbClr val="202354"/>
              </a:solidFill>
              <a:prstDash val="solid"/>
              <a:miter/>
            </a:ln>
          </p:spPr>
        </p:sp>
        <p:sp>
          <p:nvSpPr>
            <p:cNvPr id="6" name="TextBox 6"/>
            <p:cNvSpPr txBox="1"/>
            <p:nvPr/>
          </p:nvSpPr>
          <p:spPr>
            <a:xfrm>
              <a:off x="0" y="9525"/>
              <a:ext cx="4648998" cy="2521499"/>
            </a:xfrm>
            <a:prstGeom prst="rect">
              <a:avLst/>
            </a:prstGeom>
          </p:spPr>
          <p:txBody>
            <a:bodyPr lIns="50800" tIns="50800" rIns="50800" bIns="50800" rtlCol="0" anchor="ctr"/>
            <a:lstStyle/>
            <a:p>
              <a:pPr algn="ctr">
                <a:lnSpc>
                  <a:spcPts val="1869"/>
                </a:lnSpc>
              </a:pPr>
              <a:endParaRPr/>
            </a:p>
          </p:txBody>
        </p:sp>
      </p:grpSp>
      <p:sp>
        <p:nvSpPr>
          <p:cNvPr id="7" name="AutoShape 7"/>
          <p:cNvSpPr/>
          <p:nvPr/>
        </p:nvSpPr>
        <p:spPr>
          <a:xfrm>
            <a:off x="16914738" y="604604"/>
            <a:ext cx="0" cy="1451901"/>
          </a:xfrm>
          <a:prstGeom prst="line">
            <a:avLst/>
          </a:prstGeom>
          <a:ln w="133350" cap="flat">
            <a:solidFill>
              <a:srgbClr val="000000"/>
            </a:solidFill>
            <a:prstDash val="solid"/>
            <a:headEnd type="none" w="sm" len="sm"/>
            <a:tailEnd type="none" w="sm" len="sm"/>
          </a:ln>
        </p:spPr>
      </p:sp>
      <p:sp>
        <p:nvSpPr>
          <p:cNvPr id="8" name="TextBox 8"/>
          <p:cNvSpPr txBox="1"/>
          <p:nvPr/>
        </p:nvSpPr>
        <p:spPr>
          <a:xfrm>
            <a:off x="1856378" y="775964"/>
            <a:ext cx="14858335" cy="972185"/>
          </a:xfrm>
          <a:prstGeom prst="rect">
            <a:avLst/>
          </a:prstGeom>
        </p:spPr>
        <p:txBody>
          <a:bodyPr lIns="0" tIns="0" rIns="0" bIns="0" rtlCol="0" anchor="t">
            <a:spAutoFit/>
          </a:bodyPr>
          <a:lstStyle/>
          <a:p>
            <a:pPr algn="ctr">
              <a:lnSpc>
                <a:spcPts val="7420"/>
              </a:lnSpc>
              <a:spcBef>
                <a:spcPct val="0"/>
              </a:spcBef>
            </a:pPr>
            <a:r>
              <a:rPr lang="en-US" sz="7000" u="sng">
                <a:solidFill>
                  <a:srgbClr val="000000"/>
                </a:solidFill>
                <a:latin typeface="Alata"/>
                <a:ea typeface="Alata"/>
                <a:cs typeface="Alata"/>
                <a:sym typeface="Alata"/>
              </a:rPr>
              <a:t>FURTHER POSSIBLE IMPROVEMENTS</a:t>
            </a:r>
          </a:p>
        </p:txBody>
      </p:sp>
      <p:sp>
        <p:nvSpPr>
          <p:cNvPr id="9" name="AutoShape 9"/>
          <p:cNvSpPr/>
          <p:nvPr/>
        </p:nvSpPr>
        <p:spPr>
          <a:xfrm>
            <a:off x="1657567" y="510403"/>
            <a:ext cx="0" cy="1451901"/>
          </a:xfrm>
          <a:prstGeom prst="line">
            <a:avLst/>
          </a:prstGeom>
          <a:ln w="133350" cap="flat">
            <a:solidFill>
              <a:srgbClr val="000000"/>
            </a:solidFill>
            <a:prstDash val="solid"/>
            <a:headEnd type="none" w="sm" len="sm"/>
            <a:tailEnd type="none" w="sm" len="sm"/>
          </a:ln>
        </p:spPr>
      </p:sp>
      <p:sp>
        <p:nvSpPr>
          <p:cNvPr id="10" name="TextBox 10"/>
          <p:cNvSpPr txBox="1"/>
          <p:nvPr/>
        </p:nvSpPr>
        <p:spPr>
          <a:xfrm>
            <a:off x="381172" y="2391185"/>
            <a:ext cx="6588590" cy="501650"/>
          </a:xfrm>
          <a:prstGeom prst="rect">
            <a:avLst/>
          </a:prstGeom>
        </p:spPr>
        <p:txBody>
          <a:bodyPr lIns="0" tIns="0" rIns="0" bIns="0" rtlCol="0" anchor="t">
            <a:spAutoFit/>
          </a:bodyPr>
          <a:lstStyle/>
          <a:p>
            <a:pPr marL="755649" lvl="1" indent="-377824" algn="l">
              <a:lnSpc>
                <a:spcPts val="3849"/>
              </a:lnSpc>
              <a:buFont typeface="Arial"/>
              <a:buChar char="•"/>
            </a:pPr>
            <a:r>
              <a:rPr lang="en-US" sz="3499" spc="139">
                <a:solidFill>
                  <a:srgbClr val="000000"/>
                </a:solidFill>
                <a:latin typeface="Alata"/>
                <a:ea typeface="Alata"/>
                <a:cs typeface="Alata"/>
                <a:sym typeface="Alata"/>
              </a:rPr>
              <a:t>Adding Lidar Sensor</a:t>
            </a:r>
          </a:p>
        </p:txBody>
      </p:sp>
      <p:sp>
        <p:nvSpPr>
          <p:cNvPr id="11" name="TextBox 11"/>
          <p:cNvSpPr txBox="1"/>
          <p:nvPr/>
        </p:nvSpPr>
        <p:spPr>
          <a:xfrm>
            <a:off x="1415046" y="2948715"/>
            <a:ext cx="16194864" cy="2181592"/>
          </a:xfrm>
          <a:prstGeom prst="rect">
            <a:avLst/>
          </a:prstGeom>
        </p:spPr>
        <p:txBody>
          <a:bodyPr lIns="0" tIns="0" rIns="0" bIns="0" rtlCol="0" anchor="t">
            <a:spAutoFit/>
          </a:bodyPr>
          <a:lstStyle/>
          <a:p>
            <a:pPr algn="l">
              <a:lnSpc>
                <a:spcPts val="3453"/>
              </a:lnSpc>
            </a:pPr>
            <a:r>
              <a:rPr lang="en-US" sz="2317">
                <a:solidFill>
                  <a:srgbClr val="000000"/>
                </a:solidFill>
                <a:latin typeface="Poppins"/>
                <a:ea typeface="Poppins"/>
                <a:cs typeface="Poppins"/>
                <a:sym typeface="Poppins"/>
              </a:rPr>
              <a:t>One of the most promising enhancements for Marg Darshak is integrating a </a:t>
            </a:r>
            <a:r>
              <a:rPr lang="en-US" sz="2317" b="1">
                <a:solidFill>
                  <a:srgbClr val="000000"/>
                </a:solidFill>
                <a:latin typeface="Poppins Bold"/>
                <a:ea typeface="Poppins Bold"/>
                <a:cs typeface="Poppins Bold"/>
                <a:sym typeface="Poppins Bold"/>
              </a:rPr>
              <a:t>LiDAR</a:t>
            </a:r>
            <a:r>
              <a:rPr lang="en-US" sz="2317">
                <a:solidFill>
                  <a:srgbClr val="000000"/>
                </a:solidFill>
                <a:latin typeface="Poppins"/>
                <a:ea typeface="Poppins"/>
                <a:cs typeface="Poppins"/>
                <a:sym typeface="Poppins"/>
              </a:rPr>
              <a:t> </a:t>
            </a:r>
            <a:r>
              <a:rPr lang="en-US" sz="2317" b="1">
                <a:solidFill>
                  <a:srgbClr val="000000"/>
                </a:solidFill>
                <a:latin typeface="Poppins Bold"/>
                <a:ea typeface="Poppins Bold"/>
                <a:cs typeface="Poppins Bold"/>
                <a:sym typeface="Poppins Bold"/>
              </a:rPr>
              <a:t>(Light Detection and Ranging)</a:t>
            </a:r>
            <a:r>
              <a:rPr lang="en-US" sz="2317">
                <a:solidFill>
                  <a:srgbClr val="000000"/>
                </a:solidFill>
                <a:latin typeface="Poppins"/>
                <a:ea typeface="Poppins"/>
                <a:cs typeface="Poppins"/>
                <a:sym typeface="Poppins"/>
              </a:rPr>
              <a:t> sensor. Unlike traditional distance-measuring technologies, LiDAR </a:t>
            </a:r>
            <a:r>
              <a:rPr lang="en-US" sz="2317" b="1">
                <a:solidFill>
                  <a:srgbClr val="000000"/>
                </a:solidFill>
                <a:latin typeface="Poppins Bold"/>
                <a:ea typeface="Poppins Bold"/>
                <a:cs typeface="Poppins Bold"/>
                <a:sym typeface="Poppins Bold"/>
              </a:rPr>
              <a:t>provides precise depth perception and spatial mapping</a:t>
            </a:r>
            <a:r>
              <a:rPr lang="en-US" sz="2317">
                <a:solidFill>
                  <a:srgbClr val="000000"/>
                </a:solidFill>
                <a:latin typeface="Poppins"/>
                <a:ea typeface="Poppins"/>
                <a:cs typeface="Poppins"/>
                <a:sym typeface="Poppins"/>
              </a:rPr>
              <a:t>.It provides enhanced accuracy in detecting obstacles and estimating distances, also have ability to recognize objects in real-time, even in challenging conditions such as </a:t>
            </a:r>
            <a:r>
              <a:rPr lang="en-US" sz="2317" b="1">
                <a:solidFill>
                  <a:srgbClr val="000000"/>
                </a:solidFill>
                <a:latin typeface="Poppins Bold"/>
                <a:ea typeface="Poppins Bold"/>
                <a:cs typeface="Poppins Bold"/>
                <a:sym typeface="Poppins Bold"/>
              </a:rPr>
              <a:t>low light or crowded environments</a:t>
            </a:r>
            <a:r>
              <a:rPr lang="en-US" sz="2317">
                <a:solidFill>
                  <a:srgbClr val="000000"/>
                </a:solidFill>
                <a:latin typeface="Poppins"/>
                <a:ea typeface="Poppins"/>
                <a:cs typeface="Poppins"/>
                <a:sym typeface="Poppins"/>
              </a:rPr>
              <a:t>.</a:t>
            </a:r>
          </a:p>
        </p:txBody>
      </p:sp>
      <p:sp>
        <p:nvSpPr>
          <p:cNvPr id="12" name="TextBox 12"/>
          <p:cNvSpPr txBox="1"/>
          <p:nvPr/>
        </p:nvSpPr>
        <p:spPr>
          <a:xfrm>
            <a:off x="381172" y="5618022"/>
            <a:ext cx="8762828" cy="596900"/>
          </a:xfrm>
          <a:prstGeom prst="rect">
            <a:avLst/>
          </a:prstGeom>
        </p:spPr>
        <p:txBody>
          <a:bodyPr lIns="0" tIns="0" rIns="0" bIns="0" rtlCol="0" anchor="t">
            <a:spAutoFit/>
          </a:bodyPr>
          <a:lstStyle/>
          <a:p>
            <a:pPr marL="755649" lvl="1" indent="-377824" algn="l">
              <a:lnSpc>
                <a:spcPts val="4899"/>
              </a:lnSpc>
              <a:buFont typeface="Arial"/>
              <a:buChar char="•"/>
            </a:pPr>
            <a:r>
              <a:rPr lang="en-US" sz="3499">
                <a:solidFill>
                  <a:srgbClr val="000000"/>
                </a:solidFill>
                <a:latin typeface="Alata"/>
                <a:ea typeface="Alata"/>
                <a:cs typeface="Alata"/>
                <a:sym typeface="Alata"/>
              </a:rPr>
              <a:t>Integration Of Navigation System</a:t>
            </a:r>
          </a:p>
        </p:txBody>
      </p:sp>
      <p:sp>
        <p:nvSpPr>
          <p:cNvPr id="13" name="TextBox 13"/>
          <p:cNvSpPr txBox="1"/>
          <p:nvPr/>
        </p:nvSpPr>
        <p:spPr>
          <a:xfrm>
            <a:off x="1415046" y="6291122"/>
            <a:ext cx="16226895" cy="1305204"/>
          </a:xfrm>
          <a:prstGeom prst="rect">
            <a:avLst/>
          </a:prstGeom>
        </p:spPr>
        <p:txBody>
          <a:bodyPr lIns="0" tIns="0" rIns="0" bIns="0" rtlCol="0" anchor="t">
            <a:spAutoFit/>
          </a:bodyPr>
          <a:lstStyle/>
          <a:p>
            <a:pPr algn="l">
              <a:lnSpc>
                <a:spcPts val="3456"/>
              </a:lnSpc>
            </a:pPr>
            <a:r>
              <a:rPr lang="en-US" sz="2320">
                <a:solidFill>
                  <a:srgbClr val="000000"/>
                </a:solidFill>
                <a:latin typeface="Poppins"/>
                <a:ea typeface="Poppins"/>
                <a:cs typeface="Poppins"/>
                <a:sym typeface="Poppins"/>
              </a:rPr>
              <a:t>Incorporating advanced navigation functionalities, such as </a:t>
            </a:r>
            <a:r>
              <a:rPr lang="en-US" sz="2320" b="1">
                <a:solidFill>
                  <a:srgbClr val="000000"/>
                </a:solidFill>
                <a:latin typeface="Poppins Bold"/>
                <a:ea typeface="Poppins Bold"/>
                <a:cs typeface="Poppins Bold"/>
                <a:sym typeface="Poppins Bold"/>
              </a:rPr>
              <a:t>GPS or indoor navigation systems</a:t>
            </a:r>
            <a:r>
              <a:rPr lang="en-US" sz="2320">
                <a:solidFill>
                  <a:srgbClr val="000000"/>
                </a:solidFill>
                <a:latin typeface="Poppins"/>
                <a:ea typeface="Poppins"/>
                <a:cs typeface="Poppins"/>
                <a:sym typeface="Poppins"/>
              </a:rPr>
              <a:t>, would transform Marg Darshak into a comprehensive mobility tool. It will help to make device more </a:t>
            </a:r>
            <a:r>
              <a:rPr lang="en-US" sz="2320" b="1">
                <a:solidFill>
                  <a:srgbClr val="000000"/>
                </a:solidFill>
                <a:latin typeface="Poppins Bold"/>
                <a:ea typeface="Poppins Bold"/>
                <a:cs typeface="Poppins Bold"/>
                <a:sym typeface="Poppins Bold"/>
              </a:rPr>
              <a:t>versatile</a:t>
            </a:r>
            <a:r>
              <a:rPr lang="en-US" sz="2320">
                <a:solidFill>
                  <a:srgbClr val="000000"/>
                </a:solidFill>
                <a:latin typeface="Poppins"/>
                <a:ea typeface="Poppins"/>
                <a:cs typeface="Poppins"/>
                <a:sym typeface="Poppins"/>
              </a:rPr>
              <a:t>, empowering users to navigate both outdoor and indoor environments .</a:t>
            </a:r>
          </a:p>
        </p:txBody>
      </p:sp>
      <p:sp>
        <p:nvSpPr>
          <p:cNvPr id="14" name="TextBox 14"/>
          <p:cNvSpPr txBox="1"/>
          <p:nvPr/>
        </p:nvSpPr>
        <p:spPr>
          <a:xfrm>
            <a:off x="381172" y="7882446"/>
            <a:ext cx="7302604" cy="596900"/>
          </a:xfrm>
          <a:prstGeom prst="rect">
            <a:avLst/>
          </a:prstGeom>
        </p:spPr>
        <p:txBody>
          <a:bodyPr lIns="0" tIns="0" rIns="0" bIns="0" rtlCol="0" anchor="t">
            <a:spAutoFit/>
          </a:bodyPr>
          <a:lstStyle/>
          <a:p>
            <a:pPr marL="755649" lvl="1" indent="-377824" algn="l">
              <a:lnSpc>
                <a:spcPts val="4899"/>
              </a:lnSpc>
              <a:buFont typeface="Arial"/>
              <a:buChar char="•"/>
            </a:pPr>
            <a:r>
              <a:rPr lang="en-US" sz="3499">
                <a:solidFill>
                  <a:srgbClr val="000000"/>
                </a:solidFill>
                <a:latin typeface="Alata"/>
                <a:ea typeface="Alata"/>
                <a:cs typeface="Alata"/>
                <a:sym typeface="Alata"/>
              </a:rPr>
              <a:t>Adding Priority Function</a:t>
            </a:r>
          </a:p>
        </p:txBody>
      </p:sp>
      <p:sp>
        <p:nvSpPr>
          <p:cNvPr id="15" name="TextBox 15"/>
          <p:cNvSpPr txBox="1"/>
          <p:nvPr/>
        </p:nvSpPr>
        <p:spPr>
          <a:xfrm>
            <a:off x="1447077" y="8559055"/>
            <a:ext cx="16162833" cy="867054"/>
          </a:xfrm>
          <a:prstGeom prst="rect">
            <a:avLst/>
          </a:prstGeom>
        </p:spPr>
        <p:txBody>
          <a:bodyPr lIns="0" tIns="0" rIns="0" bIns="0" rtlCol="0" anchor="t">
            <a:spAutoFit/>
          </a:bodyPr>
          <a:lstStyle/>
          <a:p>
            <a:pPr algn="l">
              <a:lnSpc>
                <a:spcPts val="3456"/>
              </a:lnSpc>
            </a:pPr>
            <a:r>
              <a:rPr lang="en-US" sz="2320">
                <a:solidFill>
                  <a:srgbClr val="000000"/>
                </a:solidFill>
                <a:latin typeface="Poppins"/>
                <a:ea typeface="Poppins"/>
                <a:cs typeface="Poppins"/>
                <a:sym typeface="Poppins"/>
              </a:rPr>
              <a:t>A priority function would allow users to customize the device based on their specific needs and preferences. It will provide features like </a:t>
            </a:r>
            <a:r>
              <a:rPr lang="en-US" sz="2320" b="1">
                <a:solidFill>
                  <a:srgbClr val="000000"/>
                </a:solidFill>
                <a:latin typeface="Poppins Bold"/>
                <a:ea typeface="Poppins Bold"/>
                <a:cs typeface="Poppins Bold"/>
                <a:sym typeface="Poppins Bold"/>
              </a:rPr>
              <a:t>Object prioritization,Path optimization</a:t>
            </a:r>
            <a:r>
              <a:rPr lang="en-US" sz="2320">
                <a:solidFill>
                  <a:srgbClr val="000000"/>
                </a:solidFill>
                <a:latin typeface="Poppins"/>
                <a:ea typeface="Poppins"/>
                <a:cs typeface="Poppins"/>
                <a:sym typeface="Poppin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571890">
            <a:off x="14877744" y="-1245259"/>
            <a:ext cx="6376622" cy="5228830"/>
          </a:xfrm>
          <a:custGeom>
            <a:avLst/>
            <a:gdLst/>
            <a:ahLst/>
            <a:cxnLst/>
            <a:rect l="l" t="t" r="r" b="b"/>
            <a:pathLst>
              <a:path w="6376622" h="5228830">
                <a:moveTo>
                  <a:pt x="0" y="0"/>
                </a:moveTo>
                <a:lnTo>
                  <a:pt x="6376622" y="0"/>
                </a:lnTo>
                <a:lnTo>
                  <a:pt x="6376622" y="5228830"/>
                </a:lnTo>
                <a:lnTo>
                  <a:pt x="0" y="5228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981918">
            <a:off x="-3801561" y="6342826"/>
            <a:ext cx="7110913" cy="5830949"/>
          </a:xfrm>
          <a:custGeom>
            <a:avLst/>
            <a:gdLst/>
            <a:ahLst/>
            <a:cxnLst/>
            <a:rect l="l" t="t" r="r" b="b"/>
            <a:pathLst>
              <a:path w="7110913" h="5830949">
                <a:moveTo>
                  <a:pt x="0" y="0"/>
                </a:moveTo>
                <a:lnTo>
                  <a:pt x="7110913" y="0"/>
                </a:lnTo>
                <a:lnTo>
                  <a:pt x="7110913" y="5830948"/>
                </a:lnTo>
                <a:lnTo>
                  <a:pt x="0" y="583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558993" y="358140"/>
            <a:ext cx="8271351" cy="121729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Alata"/>
                <a:ea typeface="Alata"/>
                <a:cs typeface="Alata"/>
                <a:sym typeface="Alata"/>
              </a:rPr>
              <a:t>LONG TERM VISION</a:t>
            </a:r>
          </a:p>
        </p:txBody>
      </p:sp>
      <p:sp>
        <p:nvSpPr>
          <p:cNvPr id="5" name="AutoShape 5"/>
          <p:cNvSpPr/>
          <p:nvPr/>
        </p:nvSpPr>
        <p:spPr>
          <a:xfrm flipV="1">
            <a:off x="1204225" y="1594485"/>
            <a:ext cx="8980888" cy="19050"/>
          </a:xfrm>
          <a:prstGeom prst="line">
            <a:avLst/>
          </a:prstGeom>
          <a:ln w="38100" cap="flat">
            <a:solidFill>
              <a:srgbClr val="000000"/>
            </a:solidFill>
            <a:prstDash val="sysDash"/>
            <a:headEnd type="none" w="sm" len="sm"/>
            <a:tailEnd type="none" w="sm" len="sm"/>
          </a:ln>
        </p:spPr>
      </p:sp>
      <p:sp>
        <p:nvSpPr>
          <p:cNvPr id="6" name="TextBox 6"/>
          <p:cNvSpPr txBox="1"/>
          <p:nvPr/>
        </p:nvSpPr>
        <p:spPr>
          <a:xfrm>
            <a:off x="1558993" y="1800606"/>
            <a:ext cx="15146311" cy="8196453"/>
          </a:xfrm>
          <a:prstGeom prst="rect">
            <a:avLst/>
          </a:prstGeom>
        </p:spPr>
        <p:txBody>
          <a:bodyPr lIns="0" tIns="0" rIns="0" bIns="0" rtlCol="0" anchor="t">
            <a:spAutoFit/>
          </a:bodyPr>
          <a:lstStyle/>
          <a:p>
            <a:pPr marL="496571" lvl="1" indent="-248285" algn="l">
              <a:lnSpc>
                <a:spcPts val="4071"/>
              </a:lnSpc>
              <a:buFont typeface="Arial"/>
              <a:buChar char="•"/>
            </a:pPr>
            <a:r>
              <a:rPr lang="en-US" sz="2300">
                <a:solidFill>
                  <a:srgbClr val="000000"/>
                </a:solidFill>
                <a:latin typeface="Poppins"/>
                <a:ea typeface="Poppins"/>
                <a:cs typeface="Poppins"/>
                <a:sym typeface="Poppins"/>
              </a:rPr>
              <a:t>The project aims for widespread adoption as an </a:t>
            </a:r>
            <a:r>
              <a:rPr lang="en-US" sz="2300" b="1">
                <a:solidFill>
                  <a:srgbClr val="000000"/>
                </a:solidFill>
                <a:latin typeface="Poppins Bold"/>
                <a:ea typeface="Poppins Bold"/>
                <a:cs typeface="Poppins Bold"/>
                <a:sym typeface="Poppins Bold"/>
              </a:rPr>
              <a:t>accessible, affordable tool for visually impaired individuals</a:t>
            </a:r>
            <a:r>
              <a:rPr lang="en-US" sz="2300">
                <a:solidFill>
                  <a:srgbClr val="000000"/>
                </a:solidFill>
                <a:latin typeface="Poppins"/>
                <a:ea typeface="Poppins"/>
                <a:cs typeface="Poppins"/>
                <a:sym typeface="Poppins"/>
              </a:rPr>
              <a:t> worldwide, enabling greater independence in everyday mobility. Future developments will focus on improving accuracy through advanced machine learning models, integrating AI-driven path prediction, and incorporating additional sensors like LIDAR for enhanced obstacle detection.</a:t>
            </a:r>
          </a:p>
          <a:p>
            <a:pPr algn="l">
              <a:lnSpc>
                <a:spcPts val="4071"/>
              </a:lnSpc>
            </a:pPr>
            <a:endParaRPr lang="en-US" sz="2300">
              <a:solidFill>
                <a:srgbClr val="000000"/>
              </a:solidFill>
              <a:latin typeface="Poppins"/>
              <a:ea typeface="Poppins"/>
              <a:cs typeface="Poppins"/>
              <a:sym typeface="Poppins"/>
            </a:endParaRPr>
          </a:p>
          <a:p>
            <a:pPr marL="496571" lvl="1" indent="-248285" algn="l">
              <a:lnSpc>
                <a:spcPts val="4071"/>
              </a:lnSpc>
              <a:buFont typeface="Arial"/>
              <a:buChar char="•"/>
            </a:pPr>
            <a:r>
              <a:rPr lang="en-US" sz="2300">
                <a:solidFill>
                  <a:srgbClr val="000000"/>
                </a:solidFill>
                <a:latin typeface="Poppins"/>
                <a:ea typeface="Poppins"/>
                <a:cs typeface="Poppins"/>
                <a:sym typeface="Poppins"/>
              </a:rPr>
              <a:t> Incorporating</a:t>
            </a:r>
            <a:r>
              <a:rPr lang="en-US" sz="2300" b="1">
                <a:solidFill>
                  <a:srgbClr val="000000"/>
                </a:solidFill>
                <a:latin typeface="Poppins Bold"/>
                <a:ea typeface="Poppins Bold"/>
                <a:cs typeface="Poppins Bold"/>
                <a:sym typeface="Poppins Bold"/>
              </a:rPr>
              <a:t> LiDAR </a:t>
            </a:r>
            <a:r>
              <a:rPr lang="en-US" sz="2300">
                <a:solidFill>
                  <a:srgbClr val="000000"/>
                </a:solidFill>
                <a:latin typeface="Poppins"/>
                <a:ea typeface="Poppins"/>
                <a:cs typeface="Poppins"/>
                <a:sym typeface="Poppins"/>
              </a:rPr>
              <a:t>would significantly </a:t>
            </a:r>
            <a:r>
              <a:rPr lang="en-US" sz="2300" b="1">
                <a:solidFill>
                  <a:srgbClr val="000000"/>
                </a:solidFill>
                <a:latin typeface="Poppins Bold"/>
                <a:ea typeface="Poppins Bold"/>
                <a:cs typeface="Poppins Bold"/>
                <a:sym typeface="Poppins Bold"/>
              </a:rPr>
              <a:t>improve safety</a:t>
            </a:r>
            <a:r>
              <a:rPr lang="en-US" sz="2300">
                <a:solidFill>
                  <a:srgbClr val="000000"/>
                </a:solidFill>
                <a:latin typeface="Poppins"/>
                <a:ea typeface="Poppins"/>
                <a:cs typeface="Poppins"/>
                <a:sym typeface="Poppins"/>
              </a:rPr>
              <a:t>, allowing users to navigate their surroundings with unparalleled precision and confidence.</a:t>
            </a:r>
          </a:p>
          <a:p>
            <a:pPr algn="l">
              <a:lnSpc>
                <a:spcPts val="4071"/>
              </a:lnSpc>
            </a:pPr>
            <a:endParaRPr lang="en-US" sz="2300">
              <a:solidFill>
                <a:srgbClr val="000000"/>
              </a:solidFill>
              <a:latin typeface="Poppins"/>
              <a:ea typeface="Poppins"/>
              <a:cs typeface="Poppins"/>
              <a:sym typeface="Poppins"/>
            </a:endParaRPr>
          </a:p>
          <a:p>
            <a:pPr marL="496571" lvl="1" indent="-248285" algn="l">
              <a:lnSpc>
                <a:spcPts val="4071"/>
              </a:lnSpc>
              <a:buFont typeface="Arial"/>
              <a:buChar char="•"/>
            </a:pPr>
            <a:r>
              <a:rPr lang="en-US" sz="2300" b="1">
                <a:solidFill>
                  <a:srgbClr val="000000"/>
                </a:solidFill>
                <a:latin typeface="Poppins Bold"/>
                <a:ea typeface="Poppins Bold"/>
                <a:cs typeface="Poppins Bold"/>
                <a:sym typeface="Poppins Bold"/>
              </a:rPr>
              <a:t>Integration of Navigation system</a:t>
            </a:r>
            <a:r>
              <a:rPr lang="en-US" sz="2300">
                <a:solidFill>
                  <a:srgbClr val="000000"/>
                </a:solidFill>
                <a:latin typeface="Poppins"/>
                <a:ea typeface="Poppins"/>
                <a:cs typeface="Poppins"/>
                <a:sym typeface="Poppins"/>
              </a:rPr>
              <a:t> will help to</a:t>
            </a:r>
            <a:r>
              <a:rPr lang="en-US" sz="2300" b="1">
                <a:solidFill>
                  <a:srgbClr val="000000"/>
                </a:solidFill>
                <a:latin typeface="Poppins Bold"/>
                <a:ea typeface="Poppins Bold"/>
                <a:cs typeface="Poppins Bold"/>
                <a:sym typeface="Poppins Bold"/>
              </a:rPr>
              <a:t> give directions</a:t>
            </a:r>
            <a:r>
              <a:rPr lang="en-US" sz="2300">
                <a:solidFill>
                  <a:srgbClr val="000000"/>
                </a:solidFill>
                <a:latin typeface="Poppins"/>
                <a:ea typeface="Poppins"/>
                <a:cs typeface="Poppins"/>
                <a:sym typeface="Poppins"/>
              </a:rPr>
              <a:t> for outdoor navigation, guiding users to specific destinations like shops, offices etc and </a:t>
            </a:r>
            <a:r>
              <a:rPr lang="en-US" sz="2300" b="1">
                <a:solidFill>
                  <a:srgbClr val="000000"/>
                </a:solidFill>
                <a:latin typeface="Poppins Bold"/>
                <a:ea typeface="Poppins Bold"/>
                <a:cs typeface="Poppins Bold"/>
                <a:sym typeface="Poppins Bold"/>
              </a:rPr>
              <a:t>Automatic rerouting in case of blocked paths</a:t>
            </a:r>
            <a:r>
              <a:rPr lang="en-US" sz="2300">
                <a:solidFill>
                  <a:srgbClr val="000000"/>
                </a:solidFill>
                <a:latin typeface="Poppins"/>
                <a:ea typeface="Poppins"/>
                <a:cs typeface="Poppins"/>
                <a:sym typeface="Poppins"/>
              </a:rPr>
              <a:t> or unforeseen obstacles.</a:t>
            </a:r>
          </a:p>
          <a:p>
            <a:pPr algn="l">
              <a:lnSpc>
                <a:spcPts val="4071"/>
              </a:lnSpc>
            </a:pPr>
            <a:endParaRPr lang="en-US" sz="2300">
              <a:solidFill>
                <a:srgbClr val="000000"/>
              </a:solidFill>
              <a:latin typeface="Poppins"/>
              <a:ea typeface="Poppins"/>
              <a:cs typeface="Poppins"/>
              <a:sym typeface="Poppins"/>
            </a:endParaRPr>
          </a:p>
          <a:p>
            <a:pPr marL="496571" lvl="1" indent="-248285" algn="l">
              <a:lnSpc>
                <a:spcPts val="4071"/>
              </a:lnSpc>
              <a:buFont typeface="Arial"/>
              <a:buChar char="•"/>
            </a:pPr>
            <a:r>
              <a:rPr lang="en-US" sz="2300">
                <a:solidFill>
                  <a:srgbClr val="000000"/>
                </a:solidFill>
                <a:latin typeface="Poppins"/>
                <a:ea typeface="Poppins"/>
                <a:cs typeface="Poppins"/>
                <a:sym typeface="Poppins"/>
              </a:rPr>
              <a:t>Adding a</a:t>
            </a:r>
            <a:r>
              <a:rPr lang="en-US" sz="2300" b="1">
                <a:solidFill>
                  <a:srgbClr val="000000"/>
                </a:solidFill>
                <a:latin typeface="Poppins Bold"/>
                <a:ea typeface="Poppins Bold"/>
                <a:cs typeface="Poppins Bold"/>
                <a:sym typeface="Poppins Bold"/>
              </a:rPr>
              <a:t> Priority function</a:t>
            </a:r>
            <a:r>
              <a:rPr lang="en-US" sz="2300">
                <a:solidFill>
                  <a:srgbClr val="000000"/>
                </a:solidFill>
                <a:latin typeface="Poppins"/>
                <a:ea typeface="Poppins"/>
                <a:cs typeface="Poppins"/>
                <a:sym typeface="Poppins"/>
              </a:rPr>
              <a:t> will help users to set the system to</a:t>
            </a:r>
            <a:r>
              <a:rPr lang="en-US" sz="2300" b="1">
                <a:solidFill>
                  <a:srgbClr val="000000"/>
                </a:solidFill>
                <a:latin typeface="Poppins Bold"/>
                <a:ea typeface="Poppins Bold"/>
                <a:cs typeface="Poppins Bold"/>
                <a:sym typeface="Poppins Bold"/>
              </a:rPr>
              <a:t> focus on specific types of obstacles</a:t>
            </a:r>
            <a:r>
              <a:rPr lang="en-US" sz="2300">
                <a:solidFill>
                  <a:srgbClr val="000000"/>
                </a:solidFill>
                <a:latin typeface="Poppins"/>
                <a:ea typeface="Poppins"/>
                <a:cs typeface="Poppins"/>
                <a:sym typeface="Poppins"/>
              </a:rPr>
              <a:t> and will also help to </a:t>
            </a:r>
            <a:r>
              <a:rPr lang="en-US" sz="2300" b="1">
                <a:solidFill>
                  <a:srgbClr val="000000"/>
                </a:solidFill>
                <a:latin typeface="Poppins Bold"/>
                <a:ea typeface="Poppins Bold"/>
                <a:cs typeface="Poppins Bold"/>
                <a:sym typeface="Poppins Bold"/>
              </a:rPr>
              <a:t>prioritize routes</a:t>
            </a:r>
            <a:r>
              <a:rPr lang="en-US" sz="2300">
                <a:solidFill>
                  <a:srgbClr val="000000"/>
                </a:solidFill>
                <a:latin typeface="Poppins"/>
                <a:ea typeface="Poppins"/>
                <a:cs typeface="Poppins"/>
                <a:sym typeface="Poppins"/>
              </a:rPr>
              <a:t> based on criteria like shortest distance, safest path, or minimal crowd. This feature would make Marg Darshak </a:t>
            </a:r>
            <a:r>
              <a:rPr lang="en-US" sz="2300" b="1">
                <a:solidFill>
                  <a:srgbClr val="000000"/>
                </a:solidFill>
                <a:latin typeface="Poppins Bold"/>
                <a:ea typeface="Poppins Bold"/>
                <a:cs typeface="Poppins Bold"/>
                <a:sym typeface="Poppins Bold"/>
              </a:rPr>
              <a:t>highly adaptable</a:t>
            </a:r>
            <a:r>
              <a:rPr lang="en-US" sz="2300">
                <a:solidFill>
                  <a:srgbClr val="000000"/>
                </a:solidFill>
                <a:latin typeface="Poppins"/>
                <a:ea typeface="Poppins"/>
                <a:cs typeface="Poppins"/>
                <a:sym typeface="Poppins"/>
              </a:rPr>
              <a:t>, ensuring it meets the unique requirements of each user while offering maximum </a:t>
            </a:r>
            <a:r>
              <a:rPr lang="en-US" sz="2300" b="1">
                <a:solidFill>
                  <a:srgbClr val="000000"/>
                </a:solidFill>
                <a:latin typeface="Poppins Bold"/>
                <a:ea typeface="Poppins Bold"/>
                <a:cs typeface="Poppins Bold"/>
                <a:sym typeface="Poppins Bold"/>
              </a:rPr>
              <a:t>convenience and safety.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8861085" y="5494349"/>
            <a:ext cx="6354310" cy="1327150"/>
          </a:xfrm>
          <a:prstGeom prst="rect">
            <a:avLst/>
          </a:prstGeom>
        </p:spPr>
        <p:txBody>
          <a:bodyPr lIns="0" tIns="0" rIns="0" bIns="0" rtlCol="0" anchor="t">
            <a:spAutoFit/>
          </a:bodyPr>
          <a:lstStyle/>
          <a:p>
            <a:pPr marL="0" lvl="0" indent="0" algn="l">
              <a:lnSpc>
                <a:spcPts val="3500"/>
              </a:lnSpc>
              <a:spcBef>
                <a:spcPct val="0"/>
              </a:spcBef>
            </a:pPr>
            <a:r>
              <a:rPr lang="en-US" sz="2500">
                <a:solidFill>
                  <a:srgbClr val="253439"/>
                </a:solidFill>
                <a:latin typeface="Poppins"/>
                <a:ea typeface="Poppins"/>
                <a:cs typeface="Poppins"/>
                <a:sym typeface="Poppins"/>
              </a:rPr>
              <a:t>Secondary audience will be organizations that serves blind persons, including schools, NGOs etc.</a:t>
            </a:r>
          </a:p>
        </p:txBody>
      </p:sp>
      <p:sp>
        <p:nvSpPr>
          <p:cNvPr id="3" name="AutoShape 3"/>
          <p:cNvSpPr/>
          <p:nvPr/>
        </p:nvSpPr>
        <p:spPr>
          <a:xfrm flipV="1">
            <a:off x="1623564" y="455679"/>
            <a:ext cx="0" cy="1171575"/>
          </a:xfrm>
          <a:prstGeom prst="line">
            <a:avLst/>
          </a:prstGeom>
          <a:ln w="133350" cap="flat">
            <a:solidFill>
              <a:srgbClr val="D15353"/>
            </a:solidFill>
            <a:prstDash val="solid"/>
            <a:headEnd type="none" w="sm" len="sm"/>
            <a:tailEnd type="none" w="sm" len="sm"/>
          </a:ln>
        </p:spPr>
      </p:sp>
      <p:sp>
        <p:nvSpPr>
          <p:cNvPr id="4" name="Freeform 4"/>
          <p:cNvSpPr/>
          <p:nvPr/>
        </p:nvSpPr>
        <p:spPr>
          <a:xfrm rot="-5400000">
            <a:off x="9613383" y="-1644410"/>
            <a:ext cx="15806184" cy="9426233"/>
          </a:xfrm>
          <a:custGeom>
            <a:avLst/>
            <a:gdLst/>
            <a:ahLst/>
            <a:cxnLst/>
            <a:rect l="l" t="t" r="r" b="b"/>
            <a:pathLst>
              <a:path w="15806184" h="9426233">
                <a:moveTo>
                  <a:pt x="0" y="0"/>
                </a:moveTo>
                <a:lnTo>
                  <a:pt x="15806184" y="0"/>
                </a:lnTo>
                <a:lnTo>
                  <a:pt x="15806184" y="9426234"/>
                </a:lnTo>
                <a:lnTo>
                  <a:pt x="0" y="9426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5417721" y="493779"/>
            <a:ext cx="6886727" cy="1009650"/>
          </a:xfrm>
          <a:prstGeom prst="rect">
            <a:avLst/>
          </a:prstGeom>
        </p:spPr>
        <p:txBody>
          <a:bodyPr lIns="0" tIns="0" rIns="0" bIns="0" rtlCol="0" anchor="t">
            <a:spAutoFit/>
          </a:bodyPr>
          <a:lstStyle/>
          <a:p>
            <a:pPr marL="0" lvl="0" indent="0" algn="l">
              <a:lnSpc>
                <a:spcPts val="7920"/>
              </a:lnSpc>
              <a:spcBef>
                <a:spcPct val="0"/>
              </a:spcBef>
            </a:pPr>
            <a:r>
              <a:rPr lang="en-US" sz="6600" b="1">
                <a:solidFill>
                  <a:srgbClr val="253439"/>
                </a:solidFill>
                <a:latin typeface="Glacial Indifference Bold"/>
                <a:ea typeface="Glacial Indifference Bold"/>
                <a:cs typeface="Glacial Indifference Bold"/>
                <a:sym typeface="Glacial Indifference Bold"/>
              </a:rPr>
              <a:t>AUDIENCE</a:t>
            </a:r>
          </a:p>
        </p:txBody>
      </p:sp>
      <p:sp>
        <p:nvSpPr>
          <p:cNvPr id="6" name="TextBox 6"/>
          <p:cNvSpPr txBox="1"/>
          <p:nvPr/>
        </p:nvSpPr>
        <p:spPr>
          <a:xfrm>
            <a:off x="1623564" y="3335407"/>
            <a:ext cx="6849022" cy="2203450"/>
          </a:xfrm>
          <a:prstGeom prst="rect">
            <a:avLst/>
          </a:prstGeom>
        </p:spPr>
        <p:txBody>
          <a:bodyPr lIns="0" tIns="0" rIns="0" bIns="0" rtlCol="0" anchor="t">
            <a:spAutoFit/>
          </a:bodyPr>
          <a:lstStyle/>
          <a:p>
            <a:pPr marL="0" lvl="0" indent="0" algn="l">
              <a:lnSpc>
                <a:spcPts val="3500"/>
              </a:lnSpc>
              <a:spcBef>
                <a:spcPct val="0"/>
              </a:spcBef>
            </a:pPr>
            <a:r>
              <a:rPr lang="en-US" sz="2500">
                <a:solidFill>
                  <a:srgbClr val="253439"/>
                </a:solidFill>
                <a:latin typeface="Poppins"/>
                <a:ea typeface="Poppins"/>
                <a:cs typeface="Poppins"/>
                <a:sym typeface="Poppins"/>
              </a:rPr>
              <a:t>The primary users of this product will be visually impaired individuals who face challenges navigating environments independently. Focuses on personal usability and ease of access.</a:t>
            </a:r>
          </a:p>
        </p:txBody>
      </p:sp>
      <p:sp>
        <p:nvSpPr>
          <p:cNvPr id="7" name="TextBox 7"/>
          <p:cNvSpPr txBox="1"/>
          <p:nvPr/>
        </p:nvSpPr>
        <p:spPr>
          <a:xfrm>
            <a:off x="1985169" y="522354"/>
            <a:ext cx="6886727" cy="1009650"/>
          </a:xfrm>
          <a:prstGeom prst="rect">
            <a:avLst/>
          </a:prstGeom>
        </p:spPr>
        <p:txBody>
          <a:bodyPr lIns="0" tIns="0" rIns="0" bIns="0" rtlCol="0" anchor="t">
            <a:spAutoFit/>
          </a:bodyPr>
          <a:lstStyle/>
          <a:p>
            <a:pPr marL="0" lvl="0" indent="0" algn="l">
              <a:lnSpc>
                <a:spcPts val="7920"/>
              </a:lnSpc>
              <a:spcBef>
                <a:spcPct val="0"/>
              </a:spcBef>
            </a:pPr>
            <a:r>
              <a:rPr lang="en-US" sz="6600">
                <a:solidFill>
                  <a:srgbClr val="253439"/>
                </a:solidFill>
                <a:latin typeface="HK Grotesk"/>
                <a:ea typeface="HK Grotesk"/>
                <a:cs typeface="HK Grotesk"/>
                <a:sym typeface="HK Grotesk"/>
              </a:rPr>
              <a:t>TARGET</a:t>
            </a:r>
          </a:p>
        </p:txBody>
      </p:sp>
      <p:grpSp>
        <p:nvGrpSpPr>
          <p:cNvPr id="8" name="Group 8"/>
          <p:cNvGrpSpPr/>
          <p:nvPr/>
        </p:nvGrpSpPr>
        <p:grpSpPr>
          <a:xfrm>
            <a:off x="1422861" y="1970154"/>
            <a:ext cx="753279" cy="75327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535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44"/>
                </a:lnSpc>
              </a:pPr>
              <a:endParaRPr/>
            </a:p>
          </p:txBody>
        </p:sp>
      </p:grpSp>
      <p:sp>
        <p:nvSpPr>
          <p:cNvPr id="11" name="TextBox 11"/>
          <p:cNvSpPr txBox="1"/>
          <p:nvPr/>
        </p:nvSpPr>
        <p:spPr>
          <a:xfrm>
            <a:off x="2358880" y="1932054"/>
            <a:ext cx="4632413" cy="1136653"/>
          </a:xfrm>
          <a:prstGeom prst="rect">
            <a:avLst/>
          </a:prstGeom>
        </p:spPr>
        <p:txBody>
          <a:bodyPr lIns="0" tIns="0" rIns="0" bIns="0" rtlCol="0" anchor="t">
            <a:spAutoFit/>
          </a:bodyPr>
          <a:lstStyle/>
          <a:p>
            <a:pPr algn="l">
              <a:lnSpc>
                <a:spcPts val="4549"/>
              </a:lnSpc>
            </a:pPr>
            <a:r>
              <a:rPr lang="en-US" sz="3499">
                <a:solidFill>
                  <a:srgbClr val="253439"/>
                </a:solidFill>
                <a:latin typeface="Alata"/>
                <a:ea typeface="Alata"/>
                <a:cs typeface="Alata"/>
                <a:sym typeface="Alata"/>
              </a:rPr>
              <a:t>Visually impaired individuals</a:t>
            </a:r>
          </a:p>
        </p:txBody>
      </p:sp>
      <p:sp>
        <p:nvSpPr>
          <p:cNvPr id="12" name="TextBox 12"/>
          <p:cNvSpPr txBox="1"/>
          <p:nvPr/>
        </p:nvSpPr>
        <p:spPr>
          <a:xfrm>
            <a:off x="1413336" y="1954490"/>
            <a:ext cx="801008" cy="679833"/>
          </a:xfrm>
          <a:prstGeom prst="rect">
            <a:avLst/>
          </a:prstGeom>
        </p:spPr>
        <p:txBody>
          <a:bodyPr lIns="0" tIns="0" rIns="0" bIns="0" rtlCol="0" anchor="t">
            <a:spAutoFit/>
          </a:bodyPr>
          <a:lstStyle/>
          <a:p>
            <a:pPr algn="ctr">
              <a:lnSpc>
                <a:spcPts val="5524"/>
              </a:lnSpc>
              <a:spcBef>
                <a:spcPct val="0"/>
              </a:spcBef>
            </a:pPr>
            <a:r>
              <a:rPr lang="en-US" sz="3945" b="1">
                <a:solidFill>
                  <a:srgbClr val="FFFFFF"/>
                </a:solidFill>
                <a:latin typeface="Glacial Indifference Bold"/>
                <a:ea typeface="Glacial Indifference Bold"/>
                <a:cs typeface="Glacial Indifference Bold"/>
                <a:sym typeface="Glacial Indifference Bold"/>
              </a:rPr>
              <a:t>1</a:t>
            </a:r>
          </a:p>
        </p:txBody>
      </p:sp>
      <p:grpSp>
        <p:nvGrpSpPr>
          <p:cNvPr id="13" name="Group 13"/>
          <p:cNvGrpSpPr/>
          <p:nvPr/>
        </p:nvGrpSpPr>
        <p:grpSpPr>
          <a:xfrm>
            <a:off x="8565760" y="4126683"/>
            <a:ext cx="5553923" cy="1098553"/>
            <a:chOff x="0" y="0"/>
            <a:chExt cx="7405230" cy="1464737"/>
          </a:xfrm>
        </p:grpSpPr>
        <p:sp>
          <p:nvSpPr>
            <p:cNvPr id="14" name="TextBox 14"/>
            <p:cNvSpPr txBox="1"/>
            <p:nvPr/>
          </p:nvSpPr>
          <p:spPr>
            <a:xfrm>
              <a:off x="1127990" y="-38100"/>
              <a:ext cx="6277240" cy="1502837"/>
            </a:xfrm>
            <a:prstGeom prst="rect">
              <a:avLst/>
            </a:prstGeom>
          </p:spPr>
          <p:txBody>
            <a:bodyPr lIns="0" tIns="0" rIns="0" bIns="0" rtlCol="0" anchor="t">
              <a:spAutoFit/>
            </a:bodyPr>
            <a:lstStyle/>
            <a:p>
              <a:pPr algn="l">
                <a:lnSpc>
                  <a:spcPts val="4549"/>
                </a:lnSpc>
              </a:pPr>
              <a:r>
                <a:rPr lang="en-US" sz="3499">
                  <a:solidFill>
                    <a:srgbClr val="253439"/>
                  </a:solidFill>
                  <a:latin typeface="Alata"/>
                  <a:ea typeface="Alata"/>
                  <a:cs typeface="Alata"/>
                  <a:sym typeface="Alata"/>
                </a:rPr>
                <a:t>Organizations for blind persons</a:t>
              </a:r>
            </a:p>
          </p:txBody>
        </p:sp>
        <p:grpSp>
          <p:nvGrpSpPr>
            <p:cNvPr id="15" name="Group 15"/>
            <p:cNvGrpSpPr/>
            <p:nvPr/>
          </p:nvGrpSpPr>
          <p:grpSpPr>
            <a:xfrm>
              <a:off x="0" y="230182"/>
              <a:ext cx="1060779" cy="1004373"/>
              <a:chOff x="0" y="0"/>
              <a:chExt cx="858447" cy="812800"/>
            </a:xfrm>
          </p:grpSpPr>
          <p:sp>
            <p:nvSpPr>
              <p:cNvPr id="16" name="Freeform 16"/>
              <p:cNvSpPr/>
              <p:nvPr/>
            </p:nvSpPr>
            <p:spPr>
              <a:xfrm>
                <a:off x="0" y="0"/>
                <a:ext cx="858447" cy="812800"/>
              </a:xfrm>
              <a:custGeom>
                <a:avLst/>
                <a:gdLst/>
                <a:ahLst/>
                <a:cxnLst/>
                <a:rect l="l" t="t" r="r" b="b"/>
                <a:pathLst>
                  <a:path w="858447" h="812800">
                    <a:moveTo>
                      <a:pt x="429224" y="0"/>
                    </a:moveTo>
                    <a:cubicBezTo>
                      <a:pt x="192170" y="0"/>
                      <a:pt x="0" y="181951"/>
                      <a:pt x="0" y="406400"/>
                    </a:cubicBezTo>
                    <a:cubicBezTo>
                      <a:pt x="0" y="630849"/>
                      <a:pt x="192170" y="812800"/>
                      <a:pt x="429224" y="812800"/>
                    </a:cubicBezTo>
                    <a:cubicBezTo>
                      <a:pt x="666277" y="812800"/>
                      <a:pt x="858447" y="630849"/>
                      <a:pt x="858447" y="406400"/>
                    </a:cubicBezTo>
                    <a:cubicBezTo>
                      <a:pt x="858447" y="181951"/>
                      <a:pt x="666277" y="0"/>
                      <a:pt x="429224" y="0"/>
                    </a:cubicBezTo>
                    <a:close/>
                  </a:path>
                </a:pathLst>
              </a:custGeom>
              <a:solidFill>
                <a:srgbClr val="D15353"/>
              </a:solidFill>
            </p:spPr>
          </p:sp>
          <p:sp>
            <p:nvSpPr>
              <p:cNvPr id="17" name="TextBox 17"/>
              <p:cNvSpPr txBox="1"/>
              <p:nvPr/>
            </p:nvSpPr>
            <p:spPr>
              <a:xfrm>
                <a:off x="80479" y="28575"/>
                <a:ext cx="697488" cy="708025"/>
              </a:xfrm>
              <a:prstGeom prst="rect">
                <a:avLst/>
              </a:prstGeom>
            </p:spPr>
            <p:txBody>
              <a:bodyPr lIns="50800" tIns="50800" rIns="50800" bIns="50800" rtlCol="0" anchor="ctr"/>
              <a:lstStyle/>
              <a:p>
                <a:pPr algn="ctr">
                  <a:lnSpc>
                    <a:spcPts val="3244"/>
                  </a:lnSpc>
                </a:pPr>
                <a:endParaRPr/>
              </a:p>
            </p:txBody>
          </p:sp>
        </p:grpSp>
        <p:sp>
          <p:nvSpPr>
            <p:cNvPr id="18" name="TextBox 18"/>
            <p:cNvSpPr txBox="1"/>
            <p:nvPr/>
          </p:nvSpPr>
          <p:spPr>
            <a:xfrm>
              <a:off x="0" y="250572"/>
              <a:ext cx="1127990" cy="877869"/>
            </a:xfrm>
            <a:prstGeom prst="rect">
              <a:avLst/>
            </a:prstGeom>
          </p:spPr>
          <p:txBody>
            <a:bodyPr lIns="0" tIns="0" rIns="0" bIns="0" rtlCol="0" anchor="t">
              <a:spAutoFit/>
            </a:bodyPr>
            <a:lstStyle/>
            <a:p>
              <a:pPr algn="ctr">
                <a:lnSpc>
                  <a:spcPts val="5524"/>
                </a:lnSpc>
                <a:spcBef>
                  <a:spcPct val="0"/>
                </a:spcBef>
              </a:pPr>
              <a:r>
                <a:rPr lang="en-US" sz="3945" b="1">
                  <a:solidFill>
                    <a:srgbClr val="FFFFFF"/>
                  </a:solidFill>
                  <a:latin typeface="Glacial Indifference Bold"/>
                  <a:ea typeface="Glacial Indifference Bold"/>
                  <a:cs typeface="Glacial Indifference Bold"/>
                  <a:sym typeface="Glacial Indifference Bold"/>
                </a:rPr>
                <a:t>2</a:t>
              </a:r>
            </a:p>
          </p:txBody>
        </p:sp>
      </p:grpSp>
      <p:grpSp>
        <p:nvGrpSpPr>
          <p:cNvPr id="19" name="Group 19"/>
          <p:cNvGrpSpPr/>
          <p:nvPr/>
        </p:nvGrpSpPr>
        <p:grpSpPr>
          <a:xfrm>
            <a:off x="1413336" y="6272222"/>
            <a:ext cx="5403134" cy="1098553"/>
            <a:chOff x="0" y="0"/>
            <a:chExt cx="7204179" cy="1464737"/>
          </a:xfrm>
        </p:grpSpPr>
        <p:grpSp>
          <p:nvGrpSpPr>
            <p:cNvPr id="20" name="Group 20"/>
            <p:cNvGrpSpPr/>
            <p:nvPr/>
          </p:nvGrpSpPr>
          <p:grpSpPr>
            <a:xfrm>
              <a:off x="0" y="0"/>
              <a:ext cx="1010618" cy="1004373"/>
              <a:chOff x="0" y="0"/>
              <a:chExt cx="817854" cy="812800"/>
            </a:xfrm>
          </p:grpSpPr>
          <p:sp>
            <p:nvSpPr>
              <p:cNvPr id="21" name="Freeform 21"/>
              <p:cNvSpPr/>
              <p:nvPr/>
            </p:nvSpPr>
            <p:spPr>
              <a:xfrm>
                <a:off x="0" y="0"/>
                <a:ext cx="817854" cy="812800"/>
              </a:xfrm>
              <a:custGeom>
                <a:avLst/>
                <a:gdLst/>
                <a:ahLst/>
                <a:cxnLst/>
                <a:rect l="l" t="t" r="r" b="b"/>
                <a:pathLst>
                  <a:path w="817854" h="812800">
                    <a:moveTo>
                      <a:pt x="408927" y="0"/>
                    </a:moveTo>
                    <a:cubicBezTo>
                      <a:pt x="183083" y="0"/>
                      <a:pt x="0" y="181951"/>
                      <a:pt x="0" y="406400"/>
                    </a:cubicBezTo>
                    <a:cubicBezTo>
                      <a:pt x="0" y="630849"/>
                      <a:pt x="183083" y="812800"/>
                      <a:pt x="408927" y="812800"/>
                    </a:cubicBezTo>
                    <a:cubicBezTo>
                      <a:pt x="634771" y="812800"/>
                      <a:pt x="817854" y="630849"/>
                      <a:pt x="817854" y="406400"/>
                    </a:cubicBezTo>
                    <a:cubicBezTo>
                      <a:pt x="817854" y="181951"/>
                      <a:pt x="634771" y="0"/>
                      <a:pt x="408927" y="0"/>
                    </a:cubicBezTo>
                    <a:close/>
                  </a:path>
                </a:pathLst>
              </a:custGeom>
              <a:solidFill>
                <a:srgbClr val="D15353"/>
              </a:solidFill>
            </p:spPr>
          </p:sp>
          <p:sp>
            <p:nvSpPr>
              <p:cNvPr id="22" name="TextBox 22"/>
              <p:cNvSpPr txBox="1"/>
              <p:nvPr/>
            </p:nvSpPr>
            <p:spPr>
              <a:xfrm>
                <a:off x="76674" y="28575"/>
                <a:ext cx="664506" cy="708025"/>
              </a:xfrm>
              <a:prstGeom prst="rect">
                <a:avLst/>
              </a:prstGeom>
            </p:spPr>
            <p:txBody>
              <a:bodyPr lIns="50800" tIns="50800" rIns="50800" bIns="50800" rtlCol="0" anchor="ctr"/>
              <a:lstStyle/>
              <a:p>
                <a:pPr algn="ctr">
                  <a:lnSpc>
                    <a:spcPts val="3244"/>
                  </a:lnSpc>
                </a:pPr>
                <a:endParaRPr/>
              </a:p>
            </p:txBody>
          </p:sp>
        </p:grpSp>
        <p:sp>
          <p:nvSpPr>
            <p:cNvPr id="23" name="TextBox 23"/>
            <p:cNvSpPr txBox="1"/>
            <p:nvPr/>
          </p:nvSpPr>
          <p:spPr>
            <a:xfrm>
              <a:off x="326704" y="272105"/>
              <a:ext cx="395685" cy="656068"/>
            </a:xfrm>
            <a:prstGeom prst="rect">
              <a:avLst/>
            </a:prstGeom>
          </p:spPr>
          <p:txBody>
            <a:bodyPr lIns="0" tIns="0" rIns="0" bIns="0" rtlCol="0" anchor="t">
              <a:spAutoFit/>
            </a:bodyPr>
            <a:lstStyle/>
            <a:p>
              <a:pPr algn="ctr">
                <a:lnSpc>
                  <a:spcPts val="3701"/>
                </a:lnSpc>
                <a:spcBef>
                  <a:spcPct val="0"/>
                </a:spcBef>
              </a:pPr>
              <a:r>
                <a:rPr lang="en-US" sz="3492">
                  <a:solidFill>
                    <a:srgbClr val="FFFFFF"/>
                  </a:solidFill>
                  <a:latin typeface="League Spartan"/>
                  <a:ea typeface="League Spartan"/>
                  <a:cs typeface="League Spartan"/>
                  <a:sym typeface="League Spartan"/>
                </a:rPr>
                <a:t>3</a:t>
              </a:r>
            </a:p>
          </p:txBody>
        </p:sp>
        <p:sp>
          <p:nvSpPr>
            <p:cNvPr id="24" name="TextBox 24"/>
            <p:cNvSpPr txBox="1"/>
            <p:nvPr/>
          </p:nvSpPr>
          <p:spPr>
            <a:xfrm>
              <a:off x="1223769" y="-38100"/>
              <a:ext cx="5980410" cy="1502837"/>
            </a:xfrm>
            <a:prstGeom prst="rect">
              <a:avLst/>
            </a:prstGeom>
          </p:spPr>
          <p:txBody>
            <a:bodyPr lIns="0" tIns="0" rIns="0" bIns="0" rtlCol="0" anchor="t">
              <a:spAutoFit/>
            </a:bodyPr>
            <a:lstStyle/>
            <a:p>
              <a:pPr algn="l">
                <a:lnSpc>
                  <a:spcPts val="4549"/>
                </a:lnSpc>
              </a:pPr>
              <a:r>
                <a:rPr lang="en-US" sz="3499">
                  <a:solidFill>
                    <a:srgbClr val="253439"/>
                  </a:solidFill>
                  <a:latin typeface="Alata"/>
                  <a:ea typeface="Alata"/>
                  <a:cs typeface="Alata"/>
                  <a:sym typeface="Alata"/>
                </a:rPr>
                <a:t>Accessibility researchers</a:t>
              </a:r>
            </a:p>
          </p:txBody>
        </p:sp>
      </p:grpSp>
      <p:sp>
        <p:nvSpPr>
          <p:cNvPr id="25" name="TextBox 25"/>
          <p:cNvSpPr txBox="1"/>
          <p:nvPr/>
        </p:nvSpPr>
        <p:spPr>
          <a:xfrm>
            <a:off x="1623564" y="7637475"/>
            <a:ext cx="8767601" cy="2641600"/>
          </a:xfrm>
          <a:prstGeom prst="rect">
            <a:avLst/>
          </a:prstGeom>
        </p:spPr>
        <p:txBody>
          <a:bodyPr lIns="0" tIns="0" rIns="0" bIns="0" rtlCol="0" anchor="t">
            <a:spAutoFit/>
          </a:bodyPr>
          <a:lstStyle/>
          <a:p>
            <a:pPr marL="0" lvl="0" indent="0" algn="l">
              <a:lnSpc>
                <a:spcPts val="3500"/>
              </a:lnSpc>
              <a:spcBef>
                <a:spcPct val="0"/>
              </a:spcBef>
            </a:pPr>
            <a:r>
              <a:rPr lang="en-US" sz="2500">
                <a:solidFill>
                  <a:srgbClr val="253439"/>
                </a:solidFill>
                <a:latin typeface="Poppins"/>
                <a:ea typeface="Poppins"/>
                <a:cs typeface="Poppins"/>
                <a:sym typeface="Poppins"/>
              </a:rPr>
              <a:t>the Marg Darshak system has the potential to become an invaluable tool for a variety of Accessibility researchers, by enhancing independence, mobility, and safety for visually impaired individuals. These partnerships can help create a more inclusive society where accessibility is no longer a barrier.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sp>
        <p:nvSpPr>
          <p:cNvPr id="2" name="Freeform 2"/>
          <p:cNvSpPr/>
          <p:nvPr/>
        </p:nvSpPr>
        <p:spPr>
          <a:xfrm rot="7107145">
            <a:off x="7348926" y="918119"/>
            <a:ext cx="15422517" cy="9197428"/>
          </a:xfrm>
          <a:custGeom>
            <a:avLst/>
            <a:gdLst/>
            <a:ahLst/>
            <a:cxnLst/>
            <a:rect l="l" t="t" r="r" b="b"/>
            <a:pathLst>
              <a:path w="15422517" h="9197428">
                <a:moveTo>
                  <a:pt x="0" y="0"/>
                </a:moveTo>
                <a:lnTo>
                  <a:pt x="15422516" y="0"/>
                </a:lnTo>
                <a:lnTo>
                  <a:pt x="15422516" y="9197428"/>
                </a:lnTo>
                <a:lnTo>
                  <a:pt x="0" y="9197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77218" y="1855807"/>
            <a:ext cx="18565218" cy="6575386"/>
            <a:chOff x="0" y="0"/>
            <a:chExt cx="4889605" cy="1731789"/>
          </a:xfrm>
        </p:grpSpPr>
        <p:sp>
          <p:nvSpPr>
            <p:cNvPr id="4" name="Freeform 4"/>
            <p:cNvSpPr/>
            <p:nvPr/>
          </p:nvSpPr>
          <p:spPr>
            <a:xfrm>
              <a:off x="0" y="0"/>
              <a:ext cx="4889605" cy="1731789"/>
            </a:xfrm>
            <a:custGeom>
              <a:avLst/>
              <a:gdLst/>
              <a:ahLst/>
              <a:cxnLst/>
              <a:rect l="l" t="t" r="r" b="b"/>
              <a:pathLst>
                <a:path w="4889605" h="1731789">
                  <a:moveTo>
                    <a:pt x="0" y="0"/>
                  </a:moveTo>
                  <a:lnTo>
                    <a:pt x="4889605" y="0"/>
                  </a:lnTo>
                  <a:lnTo>
                    <a:pt x="4889605" y="1731789"/>
                  </a:lnTo>
                  <a:lnTo>
                    <a:pt x="0" y="1731789"/>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5" name="TextBox 5"/>
            <p:cNvSpPr txBox="1"/>
            <p:nvPr/>
          </p:nvSpPr>
          <p:spPr>
            <a:xfrm>
              <a:off x="0" y="9525"/>
              <a:ext cx="4889605" cy="1722264"/>
            </a:xfrm>
            <a:prstGeom prst="rect">
              <a:avLst/>
            </a:prstGeom>
          </p:spPr>
          <p:txBody>
            <a:bodyPr lIns="50800" tIns="50800" rIns="50800" bIns="50800" rtlCol="0" anchor="ctr"/>
            <a:lstStyle/>
            <a:p>
              <a:pPr algn="ctr">
                <a:lnSpc>
                  <a:spcPts val="1869"/>
                </a:lnSpc>
              </a:pPr>
              <a:endParaRPr/>
            </a:p>
          </p:txBody>
        </p:sp>
      </p:grpSp>
      <p:grpSp>
        <p:nvGrpSpPr>
          <p:cNvPr id="6" name="Group 6"/>
          <p:cNvGrpSpPr/>
          <p:nvPr/>
        </p:nvGrpSpPr>
        <p:grpSpPr>
          <a:xfrm>
            <a:off x="528217" y="4485015"/>
            <a:ext cx="4660796" cy="4559502"/>
            <a:chOff x="0" y="0"/>
            <a:chExt cx="1227535" cy="1200856"/>
          </a:xfrm>
        </p:grpSpPr>
        <p:sp>
          <p:nvSpPr>
            <p:cNvPr id="7" name="Freeform 7"/>
            <p:cNvSpPr/>
            <p:nvPr/>
          </p:nvSpPr>
          <p:spPr>
            <a:xfrm>
              <a:off x="0" y="0"/>
              <a:ext cx="1227535" cy="1200856"/>
            </a:xfrm>
            <a:custGeom>
              <a:avLst/>
              <a:gdLst/>
              <a:ahLst/>
              <a:cxnLst/>
              <a:rect l="l" t="t" r="r" b="b"/>
              <a:pathLst>
                <a:path w="1227535" h="1200856">
                  <a:moveTo>
                    <a:pt x="0" y="0"/>
                  </a:moveTo>
                  <a:lnTo>
                    <a:pt x="1227535" y="0"/>
                  </a:lnTo>
                  <a:lnTo>
                    <a:pt x="1227535" y="1200856"/>
                  </a:lnTo>
                  <a:lnTo>
                    <a:pt x="0" y="1200856"/>
                  </a:lnTo>
                  <a:close/>
                </a:path>
              </a:pathLst>
            </a:custGeom>
            <a:solidFill>
              <a:srgbClr val="D15353"/>
            </a:solidFill>
          </p:spPr>
        </p:sp>
        <p:sp>
          <p:nvSpPr>
            <p:cNvPr id="8" name="TextBox 8"/>
            <p:cNvSpPr txBox="1"/>
            <p:nvPr/>
          </p:nvSpPr>
          <p:spPr>
            <a:xfrm>
              <a:off x="0" y="-47625"/>
              <a:ext cx="1227535" cy="1248481"/>
            </a:xfrm>
            <a:prstGeom prst="rect">
              <a:avLst/>
            </a:prstGeom>
          </p:spPr>
          <p:txBody>
            <a:bodyPr lIns="50800" tIns="50800" rIns="50800" bIns="50800" rtlCol="0" anchor="ctr"/>
            <a:lstStyle/>
            <a:p>
              <a:pPr algn="ctr">
                <a:lnSpc>
                  <a:spcPts val="3244"/>
                </a:lnSpc>
              </a:pPr>
              <a:endParaRPr/>
            </a:p>
          </p:txBody>
        </p:sp>
      </p:grpSp>
      <p:grpSp>
        <p:nvGrpSpPr>
          <p:cNvPr id="9" name="Group 9"/>
          <p:cNvGrpSpPr/>
          <p:nvPr/>
        </p:nvGrpSpPr>
        <p:grpSpPr>
          <a:xfrm>
            <a:off x="5411984" y="1855807"/>
            <a:ext cx="2373131" cy="2411751"/>
            <a:chOff x="0" y="0"/>
            <a:chExt cx="625022" cy="635194"/>
          </a:xfrm>
        </p:grpSpPr>
        <p:sp>
          <p:nvSpPr>
            <p:cNvPr id="10" name="Freeform 10"/>
            <p:cNvSpPr/>
            <p:nvPr/>
          </p:nvSpPr>
          <p:spPr>
            <a:xfrm>
              <a:off x="0" y="0"/>
              <a:ext cx="625022" cy="635194"/>
            </a:xfrm>
            <a:custGeom>
              <a:avLst/>
              <a:gdLst/>
              <a:ahLst/>
              <a:cxnLst/>
              <a:rect l="l" t="t" r="r" b="b"/>
              <a:pathLst>
                <a:path w="625022" h="635194">
                  <a:moveTo>
                    <a:pt x="0" y="0"/>
                  </a:moveTo>
                  <a:lnTo>
                    <a:pt x="625022" y="0"/>
                  </a:lnTo>
                  <a:lnTo>
                    <a:pt x="625022" y="635194"/>
                  </a:lnTo>
                  <a:lnTo>
                    <a:pt x="0" y="635194"/>
                  </a:lnTo>
                  <a:close/>
                </a:path>
              </a:pathLst>
            </a:custGeom>
            <a:solidFill>
              <a:srgbClr val="D15353"/>
            </a:solidFill>
          </p:spPr>
        </p:sp>
        <p:sp>
          <p:nvSpPr>
            <p:cNvPr id="11" name="TextBox 11"/>
            <p:cNvSpPr txBox="1"/>
            <p:nvPr/>
          </p:nvSpPr>
          <p:spPr>
            <a:xfrm>
              <a:off x="0" y="-47625"/>
              <a:ext cx="625022" cy="682819"/>
            </a:xfrm>
            <a:prstGeom prst="rect">
              <a:avLst/>
            </a:prstGeom>
          </p:spPr>
          <p:txBody>
            <a:bodyPr lIns="50800" tIns="50800" rIns="50800" bIns="50800" rtlCol="0" anchor="ctr"/>
            <a:lstStyle/>
            <a:p>
              <a:pPr algn="ctr">
                <a:lnSpc>
                  <a:spcPts val="3244"/>
                </a:lnSpc>
              </a:pPr>
              <a:endParaRPr/>
            </a:p>
          </p:txBody>
        </p:sp>
      </p:grpSp>
      <p:grpSp>
        <p:nvGrpSpPr>
          <p:cNvPr id="12" name="Group 12"/>
          <p:cNvGrpSpPr>
            <a:grpSpLocks noChangeAspect="1"/>
          </p:cNvGrpSpPr>
          <p:nvPr/>
        </p:nvGrpSpPr>
        <p:grpSpPr>
          <a:xfrm>
            <a:off x="1124910" y="2213059"/>
            <a:ext cx="6218159" cy="6218134"/>
            <a:chOff x="0" y="0"/>
            <a:chExt cx="6350025" cy="6350000"/>
          </a:xfrm>
        </p:grpSpPr>
        <p:sp>
          <p:nvSpPr>
            <p:cNvPr id="13" name="Freeform 13"/>
            <p:cNvSpPr/>
            <p:nvPr/>
          </p:nvSpPr>
          <p:spPr>
            <a:xfrm>
              <a:off x="0" y="0"/>
              <a:ext cx="6350026" cy="6350000"/>
            </a:xfrm>
            <a:custGeom>
              <a:avLst/>
              <a:gdLst/>
              <a:ahLst/>
              <a:cxnLst/>
              <a:rect l="l" t="t" r="r" b="b"/>
              <a:pathLst>
                <a:path w="6350026" h="6350000">
                  <a:moveTo>
                    <a:pt x="0" y="0"/>
                  </a:moveTo>
                  <a:lnTo>
                    <a:pt x="6350026" y="0"/>
                  </a:lnTo>
                  <a:lnTo>
                    <a:pt x="6350026" y="6350000"/>
                  </a:lnTo>
                  <a:lnTo>
                    <a:pt x="0" y="6350000"/>
                  </a:lnTo>
                  <a:close/>
                </a:path>
              </a:pathLst>
            </a:custGeom>
            <a:blipFill>
              <a:blip r:embed="rId4"/>
              <a:stretch>
                <a:fillRect l="-44067" r="-7446"/>
              </a:stretch>
            </a:blipFill>
          </p:spPr>
        </p:sp>
      </p:grpSp>
      <p:sp>
        <p:nvSpPr>
          <p:cNvPr id="14" name="AutoShape 14"/>
          <p:cNvSpPr/>
          <p:nvPr/>
        </p:nvSpPr>
        <p:spPr>
          <a:xfrm flipH="1" flipV="1">
            <a:off x="17545050" y="3217560"/>
            <a:ext cx="0" cy="4209131"/>
          </a:xfrm>
          <a:prstGeom prst="line">
            <a:avLst/>
          </a:prstGeom>
          <a:ln w="133350" cap="flat">
            <a:solidFill>
              <a:srgbClr val="D15353"/>
            </a:solidFill>
            <a:prstDash val="solid"/>
            <a:headEnd type="none" w="sm" len="sm"/>
            <a:tailEnd type="none" w="sm" len="sm"/>
          </a:ln>
        </p:spPr>
      </p:sp>
      <p:sp>
        <p:nvSpPr>
          <p:cNvPr id="15" name="TextBox 15"/>
          <p:cNvSpPr txBox="1"/>
          <p:nvPr/>
        </p:nvSpPr>
        <p:spPr>
          <a:xfrm>
            <a:off x="8350317" y="3535279"/>
            <a:ext cx="8761320" cy="4895913"/>
          </a:xfrm>
          <a:prstGeom prst="rect">
            <a:avLst/>
          </a:prstGeom>
        </p:spPr>
        <p:txBody>
          <a:bodyPr lIns="0" tIns="0" rIns="0" bIns="0" rtlCol="0" anchor="t">
            <a:spAutoFit/>
          </a:bodyPr>
          <a:lstStyle/>
          <a:p>
            <a:pPr algn="ctr">
              <a:lnSpc>
                <a:spcPts val="4394"/>
              </a:lnSpc>
            </a:pPr>
            <a:r>
              <a:rPr lang="en-US" sz="2600">
                <a:solidFill>
                  <a:srgbClr val="000000"/>
                </a:solidFill>
                <a:latin typeface="Poppins"/>
                <a:ea typeface="Poppins"/>
                <a:cs typeface="Poppins"/>
                <a:sym typeface="Poppins"/>
              </a:rPr>
              <a:t>This project seeks to empower visually impaired individuals by offering real-time obstacle detection paired with audio feedback. Its goal is to enhance their independence and mobility, enabling safer and more confident navigation through complex environments. By reducing reliance on assistance, it fosters a sense of autonomy and contributes to building a more inclusive and accessible society.</a:t>
            </a:r>
          </a:p>
          <a:p>
            <a:pPr algn="ctr">
              <a:lnSpc>
                <a:spcPts val="3675"/>
              </a:lnSpc>
            </a:pPr>
            <a:endParaRPr lang="en-US" sz="2600">
              <a:solidFill>
                <a:srgbClr val="000000"/>
              </a:solidFill>
              <a:latin typeface="Poppins"/>
              <a:ea typeface="Poppins"/>
              <a:cs typeface="Poppins"/>
              <a:sym typeface="Poppins"/>
            </a:endParaRPr>
          </a:p>
        </p:txBody>
      </p:sp>
      <p:sp>
        <p:nvSpPr>
          <p:cNvPr id="16" name="TextBox 16"/>
          <p:cNvSpPr txBox="1"/>
          <p:nvPr/>
        </p:nvSpPr>
        <p:spPr>
          <a:xfrm>
            <a:off x="8202655" y="2289259"/>
            <a:ext cx="9056645" cy="1015365"/>
          </a:xfrm>
          <a:prstGeom prst="rect">
            <a:avLst/>
          </a:prstGeom>
        </p:spPr>
        <p:txBody>
          <a:bodyPr lIns="0" tIns="0" rIns="0" bIns="0" rtlCol="0" anchor="t">
            <a:spAutoFit/>
          </a:bodyPr>
          <a:lstStyle/>
          <a:p>
            <a:pPr algn="ctr">
              <a:lnSpc>
                <a:spcPts val="7920"/>
              </a:lnSpc>
            </a:pPr>
            <a:r>
              <a:rPr lang="en-US" sz="7200" u="sng" spc="230">
                <a:solidFill>
                  <a:srgbClr val="000000"/>
                </a:solidFill>
                <a:latin typeface="Alata"/>
                <a:ea typeface="Alata"/>
                <a:cs typeface="Alata"/>
                <a:sym typeface="Alata"/>
              </a:rPr>
              <a:t>EXPECTED IMPACT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2571890">
            <a:off x="14877744" y="-1245259"/>
            <a:ext cx="6376622" cy="5228830"/>
          </a:xfrm>
          <a:custGeom>
            <a:avLst/>
            <a:gdLst/>
            <a:ahLst/>
            <a:cxnLst/>
            <a:rect l="l" t="t" r="r" b="b"/>
            <a:pathLst>
              <a:path w="6376622" h="5228830">
                <a:moveTo>
                  <a:pt x="0" y="0"/>
                </a:moveTo>
                <a:lnTo>
                  <a:pt x="6376622" y="0"/>
                </a:lnTo>
                <a:lnTo>
                  <a:pt x="6376622" y="5228830"/>
                </a:lnTo>
                <a:lnTo>
                  <a:pt x="0" y="5228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7981918">
            <a:off x="-3801561" y="6342826"/>
            <a:ext cx="7110913" cy="5830949"/>
          </a:xfrm>
          <a:custGeom>
            <a:avLst/>
            <a:gdLst/>
            <a:ahLst/>
            <a:cxnLst/>
            <a:rect l="l" t="t" r="r" b="b"/>
            <a:pathLst>
              <a:path w="7110913" h="5830949">
                <a:moveTo>
                  <a:pt x="0" y="0"/>
                </a:moveTo>
                <a:lnTo>
                  <a:pt x="7110913" y="0"/>
                </a:lnTo>
                <a:lnTo>
                  <a:pt x="7110913" y="5830948"/>
                </a:lnTo>
                <a:lnTo>
                  <a:pt x="0" y="5830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flipV="1">
            <a:off x="1204225" y="1594485"/>
            <a:ext cx="8980888" cy="19050"/>
          </a:xfrm>
          <a:prstGeom prst="line">
            <a:avLst/>
          </a:prstGeom>
          <a:ln w="38100" cap="flat">
            <a:solidFill>
              <a:srgbClr val="000000"/>
            </a:solidFill>
            <a:prstDash val="sysDash"/>
            <a:headEnd type="none" w="sm" len="sm"/>
            <a:tailEnd type="none" w="sm" len="sm"/>
          </a:ln>
        </p:spPr>
      </p:sp>
      <p:sp>
        <p:nvSpPr>
          <p:cNvPr id="5" name="TextBox 5"/>
          <p:cNvSpPr txBox="1"/>
          <p:nvPr/>
        </p:nvSpPr>
        <p:spPr>
          <a:xfrm>
            <a:off x="1204225" y="1772031"/>
            <a:ext cx="16137966" cy="8195077"/>
          </a:xfrm>
          <a:prstGeom prst="rect">
            <a:avLst/>
          </a:prstGeom>
        </p:spPr>
        <p:txBody>
          <a:bodyPr lIns="0" tIns="0" rIns="0" bIns="0" rtlCol="0" anchor="t">
            <a:spAutoFit/>
          </a:bodyPr>
          <a:lstStyle/>
          <a:p>
            <a:pPr algn="l">
              <a:lnSpc>
                <a:spcPts val="4337"/>
              </a:lnSpc>
            </a:pPr>
            <a:r>
              <a:rPr lang="en-US" sz="2450" b="1">
                <a:solidFill>
                  <a:srgbClr val="000000"/>
                </a:solidFill>
                <a:latin typeface="Poppins Bold"/>
                <a:ea typeface="Poppins Bold"/>
                <a:cs typeface="Poppins Bold"/>
                <a:sym typeface="Poppins Bold"/>
              </a:rPr>
              <a:t>Existing Research:</a:t>
            </a:r>
          </a:p>
          <a:p>
            <a:pPr marL="529082" lvl="1" indent="-264541" algn="l">
              <a:lnSpc>
                <a:spcPts val="4337"/>
              </a:lnSpc>
              <a:buAutoNum type="arabicPeriod"/>
            </a:pPr>
            <a:r>
              <a:rPr lang="en-US" sz="2450">
                <a:solidFill>
                  <a:srgbClr val="000000"/>
                </a:solidFill>
                <a:latin typeface="Poppins"/>
                <a:ea typeface="Poppins"/>
                <a:cs typeface="Poppins"/>
                <a:sym typeface="Poppins"/>
              </a:rPr>
              <a:t>Obstacle Detection:</a:t>
            </a:r>
          </a:p>
          <a:p>
            <a:pPr marL="1058164" lvl="2" indent="-352721" algn="l">
              <a:lnSpc>
                <a:spcPts val="4337"/>
              </a:lnSpc>
              <a:buFont typeface="Arial"/>
              <a:buChar char="⚬"/>
            </a:pPr>
            <a:r>
              <a:rPr lang="en-US" sz="2450">
                <a:solidFill>
                  <a:srgbClr val="000000"/>
                </a:solidFill>
                <a:latin typeface="Poppins"/>
                <a:ea typeface="Poppins"/>
                <a:cs typeface="Poppins"/>
                <a:sym typeface="Poppins"/>
              </a:rPr>
              <a:t>Traditional systems use ultrasonic sensors for detecting objects, but these lack detailed object recognition capabilities.</a:t>
            </a:r>
          </a:p>
          <a:p>
            <a:pPr marL="1058164" lvl="2" indent="-352721" algn="l">
              <a:lnSpc>
                <a:spcPts val="4337"/>
              </a:lnSpc>
              <a:buFont typeface="Arial"/>
              <a:buChar char="⚬"/>
            </a:pPr>
            <a:r>
              <a:rPr lang="en-US" sz="2450">
                <a:solidFill>
                  <a:srgbClr val="000000"/>
                </a:solidFill>
                <a:latin typeface="Poppins"/>
                <a:ea typeface="Poppins"/>
                <a:cs typeface="Poppins"/>
                <a:sym typeface="Poppins"/>
              </a:rPr>
              <a:t>Advanced models like YOLO and OpenCV have been successfully implemented for object detection in real-time.</a:t>
            </a:r>
          </a:p>
          <a:p>
            <a:pPr marL="529082" lvl="1" indent="-264541" algn="l">
              <a:lnSpc>
                <a:spcPts val="4337"/>
              </a:lnSpc>
              <a:buAutoNum type="arabicPeriod"/>
            </a:pPr>
            <a:r>
              <a:rPr lang="en-US" sz="2450">
                <a:solidFill>
                  <a:srgbClr val="000000"/>
                </a:solidFill>
                <a:latin typeface="Poppins"/>
                <a:ea typeface="Poppins"/>
                <a:cs typeface="Poppins"/>
                <a:sym typeface="Poppins"/>
              </a:rPr>
              <a:t>Audio Feedback:</a:t>
            </a:r>
          </a:p>
          <a:p>
            <a:pPr marL="1058164" lvl="2" indent="-352721" algn="l">
              <a:lnSpc>
                <a:spcPts val="4337"/>
              </a:lnSpc>
              <a:buFont typeface="Arial"/>
              <a:buChar char="⚬"/>
            </a:pPr>
            <a:r>
              <a:rPr lang="en-US" sz="2450">
                <a:solidFill>
                  <a:srgbClr val="000000"/>
                </a:solidFill>
                <a:latin typeface="Poppins"/>
                <a:ea typeface="Poppins"/>
                <a:cs typeface="Poppins"/>
                <a:sym typeface="Poppins"/>
              </a:rPr>
              <a:t>Studies show that combining auditory alerts with real-time processing enhances usability.</a:t>
            </a:r>
          </a:p>
          <a:p>
            <a:pPr marL="1058164" lvl="2" indent="-352721" algn="l">
              <a:lnSpc>
                <a:spcPts val="4337"/>
              </a:lnSpc>
              <a:buFont typeface="Arial"/>
              <a:buChar char="⚬"/>
            </a:pPr>
            <a:r>
              <a:rPr lang="en-US" sz="2450">
                <a:solidFill>
                  <a:srgbClr val="000000"/>
                </a:solidFill>
                <a:latin typeface="Poppins"/>
                <a:ea typeface="Poppins"/>
                <a:cs typeface="Poppins"/>
                <a:sym typeface="Poppins"/>
              </a:rPr>
              <a:t>Speech synthesis tools improve the intuitiveness of navigation systems.</a:t>
            </a:r>
          </a:p>
          <a:p>
            <a:pPr marL="529082" lvl="1" indent="-264541" algn="l">
              <a:lnSpc>
                <a:spcPts val="4337"/>
              </a:lnSpc>
              <a:buAutoNum type="arabicPeriod"/>
            </a:pPr>
            <a:r>
              <a:rPr lang="en-US" sz="2450">
                <a:solidFill>
                  <a:srgbClr val="000000"/>
                </a:solidFill>
                <a:latin typeface="Poppins"/>
                <a:ea typeface="Poppins"/>
                <a:cs typeface="Poppins"/>
                <a:sym typeface="Poppins"/>
              </a:rPr>
              <a:t>Limitations in Current Systems:</a:t>
            </a:r>
          </a:p>
          <a:p>
            <a:pPr marL="1058164" lvl="2" indent="-352721" algn="l">
              <a:lnSpc>
                <a:spcPts val="4337"/>
              </a:lnSpc>
              <a:buFont typeface="Arial"/>
              <a:buChar char="⚬"/>
            </a:pPr>
            <a:r>
              <a:rPr lang="en-US" sz="2450">
                <a:solidFill>
                  <a:srgbClr val="000000"/>
                </a:solidFill>
                <a:latin typeface="Poppins"/>
                <a:ea typeface="Poppins"/>
                <a:cs typeface="Poppins"/>
                <a:sym typeface="Poppins"/>
              </a:rPr>
              <a:t>Lack of adaptability to dynamic environments (e.g., changing lighting or crowded areas).</a:t>
            </a:r>
          </a:p>
          <a:p>
            <a:pPr algn="l">
              <a:lnSpc>
                <a:spcPts val="4337"/>
              </a:lnSpc>
            </a:pPr>
            <a:r>
              <a:rPr lang="en-US" sz="2450" b="1">
                <a:solidFill>
                  <a:srgbClr val="000000"/>
                </a:solidFill>
                <a:latin typeface="Poppins Bold"/>
                <a:ea typeface="Poppins Bold"/>
                <a:cs typeface="Poppins Bold"/>
                <a:sym typeface="Poppins Bold"/>
              </a:rPr>
              <a:t>Significance of Marg Darshak:</a:t>
            </a:r>
          </a:p>
          <a:p>
            <a:pPr marL="529082" lvl="1" indent="-264541" algn="l">
              <a:lnSpc>
                <a:spcPts val="4337"/>
              </a:lnSpc>
              <a:buFont typeface="Arial"/>
              <a:buChar char="•"/>
            </a:pPr>
            <a:r>
              <a:rPr lang="en-US" sz="2450">
                <a:solidFill>
                  <a:srgbClr val="000000"/>
                </a:solidFill>
                <a:latin typeface="Poppins"/>
                <a:ea typeface="Poppins"/>
                <a:cs typeface="Poppins"/>
                <a:sym typeface="Poppins"/>
              </a:rPr>
              <a:t>Combines lightweight AI models (YOLOv8) for real-time processing with audio alerts.</a:t>
            </a:r>
          </a:p>
          <a:p>
            <a:pPr marL="529082" lvl="1" indent="-264541" algn="l">
              <a:lnSpc>
                <a:spcPts val="4337"/>
              </a:lnSpc>
              <a:buFont typeface="Arial"/>
              <a:buChar char="•"/>
            </a:pPr>
            <a:r>
              <a:rPr lang="en-US" sz="2450">
                <a:solidFill>
                  <a:srgbClr val="000000"/>
                </a:solidFill>
                <a:latin typeface="Poppins"/>
                <a:ea typeface="Poppins"/>
                <a:cs typeface="Poppins"/>
                <a:sym typeface="Poppins"/>
              </a:rPr>
              <a:t>Addresses gaps in mobility solutions by integrating affordable and accessible technology.</a:t>
            </a:r>
          </a:p>
          <a:p>
            <a:pPr algn="l">
              <a:lnSpc>
                <a:spcPts val="4337"/>
              </a:lnSpc>
            </a:pPr>
            <a:endParaRPr lang="en-US" sz="2450">
              <a:solidFill>
                <a:srgbClr val="000000"/>
              </a:solidFill>
              <a:latin typeface="Poppins"/>
              <a:ea typeface="Poppins"/>
              <a:cs typeface="Poppins"/>
              <a:sym typeface="Poppins"/>
            </a:endParaRPr>
          </a:p>
        </p:txBody>
      </p:sp>
      <p:sp>
        <p:nvSpPr>
          <p:cNvPr id="6" name="TextBox 6"/>
          <p:cNvSpPr txBox="1"/>
          <p:nvPr/>
        </p:nvSpPr>
        <p:spPr>
          <a:xfrm>
            <a:off x="2160100" y="358140"/>
            <a:ext cx="7069138" cy="121729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Alata"/>
                <a:ea typeface="Alata"/>
                <a:cs typeface="Alata"/>
                <a:sym typeface="Alata"/>
              </a:rPr>
              <a:t>Literature Review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4397829" flipV="1">
            <a:off x="-6615624" y="-1710634"/>
            <a:ext cx="16435483" cy="9801524"/>
          </a:xfrm>
          <a:custGeom>
            <a:avLst/>
            <a:gdLst/>
            <a:ahLst/>
            <a:cxnLst/>
            <a:rect l="l" t="t" r="r" b="b"/>
            <a:pathLst>
              <a:path w="16435483" h="9801524">
                <a:moveTo>
                  <a:pt x="0" y="9801524"/>
                </a:moveTo>
                <a:lnTo>
                  <a:pt x="16435483" y="9801524"/>
                </a:lnTo>
                <a:lnTo>
                  <a:pt x="16435483" y="0"/>
                </a:lnTo>
                <a:lnTo>
                  <a:pt x="0" y="0"/>
                </a:lnTo>
                <a:lnTo>
                  <a:pt x="0" y="98015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487221" y="370712"/>
            <a:ext cx="15313558" cy="910041"/>
          </a:xfrm>
          <a:prstGeom prst="rect">
            <a:avLst/>
          </a:prstGeom>
        </p:spPr>
        <p:txBody>
          <a:bodyPr lIns="0" tIns="0" rIns="0" bIns="0" rtlCol="0" anchor="t">
            <a:spAutoFit/>
          </a:bodyPr>
          <a:lstStyle/>
          <a:p>
            <a:pPr algn="ctr">
              <a:lnSpc>
                <a:spcPts val="7047"/>
              </a:lnSpc>
            </a:pPr>
            <a:r>
              <a:rPr lang="en-US" sz="6406" b="1" spc="256">
                <a:solidFill>
                  <a:srgbClr val="253439"/>
                </a:solidFill>
                <a:latin typeface="Aileron Bold"/>
                <a:ea typeface="Aileron Bold"/>
                <a:cs typeface="Aileron Bold"/>
                <a:sym typeface="Aileron Bold"/>
              </a:rPr>
              <a:t>OVERALL SYSTEM ARCHITECTURE</a:t>
            </a:r>
          </a:p>
        </p:txBody>
      </p:sp>
      <p:sp>
        <p:nvSpPr>
          <p:cNvPr id="4" name="TextBox 4"/>
          <p:cNvSpPr txBox="1"/>
          <p:nvPr/>
        </p:nvSpPr>
        <p:spPr>
          <a:xfrm>
            <a:off x="4947624" y="1426571"/>
            <a:ext cx="14647773" cy="9584372"/>
          </a:xfrm>
          <a:prstGeom prst="rect">
            <a:avLst/>
          </a:prstGeom>
        </p:spPr>
        <p:txBody>
          <a:bodyPr lIns="0" tIns="0" rIns="0" bIns="0" rtlCol="0" anchor="t">
            <a:spAutoFit/>
          </a:bodyPr>
          <a:lstStyle/>
          <a:p>
            <a:pPr algn="l">
              <a:lnSpc>
                <a:spcPts val="3653"/>
              </a:lnSpc>
            </a:pPr>
            <a:r>
              <a:rPr lang="en-US" sz="2485" b="1">
                <a:solidFill>
                  <a:srgbClr val="000000"/>
                </a:solidFill>
                <a:latin typeface="Poppins Bold"/>
                <a:ea typeface="Poppins Bold"/>
                <a:cs typeface="Poppins Bold"/>
                <a:sym typeface="Poppins Bold"/>
              </a:rPr>
              <a:t>The system architecture for 'Marg Darshak' involves the following layers:</a:t>
            </a:r>
          </a:p>
          <a:p>
            <a:pPr algn="l">
              <a:lnSpc>
                <a:spcPts val="3653"/>
              </a:lnSpc>
            </a:pPr>
            <a:endParaRPr lang="en-US" sz="2485" b="1">
              <a:solidFill>
                <a:srgbClr val="000000"/>
              </a:solidFill>
              <a:latin typeface="Poppins Bold"/>
              <a:ea typeface="Poppins Bold"/>
              <a:cs typeface="Poppins Bold"/>
              <a:sym typeface="Poppins Bold"/>
            </a:endParaRPr>
          </a:p>
          <a:p>
            <a:pPr algn="l">
              <a:lnSpc>
                <a:spcPts val="3653"/>
              </a:lnSpc>
            </a:pPr>
            <a:r>
              <a:rPr lang="en-US" sz="2485">
                <a:solidFill>
                  <a:srgbClr val="000000"/>
                </a:solidFill>
                <a:latin typeface="Poppins"/>
                <a:ea typeface="Poppins"/>
                <a:cs typeface="Poppins"/>
                <a:sym typeface="Poppins"/>
              </a:rPr>
              <a:t>1. Input Layer:</a:t>
            </a:r>
          </a:p>
          <a:p>
            <a:pPr algn="l">
              <a:lnSpc>
                <a:spcPts val="3653"/>
              </a:lnSpc>
            </a:pPr>
            <a:r>
              <a:rPr lang="en-US" sz="2485">
                <a:solidFill>
                  <a:srgbClr val="000000"/>
                </a:solidFill>
                <a:latin typeface="Poppins"/>
                <a:ea typeface="Poppins"/>
                <a:cs typeface="Poppins"/>
                <a:sym typeface="Poppins"/>
              </a:rPr>
              <a:t>- Camera for real-time video feed.</a:t>
            </a:r>
          </a:p>
          <a:p>
            <a:pPr algn="l">
              <a:lnSpc>
                <a:spcPts val="3653"/>
              </a:lnSpc>
            </a:pPr>
            <a:r>
              <a:rPr lang="en-US" sz="2485">
                <a:solidFill>
                  <a:srgbClr val="000000"/>
                </a:solidFill>
                <a:latin typeface="Poppins"/>
                <a:ea typeface="Poppins"/>
                <a:cs typeface="Poppins"/>
                <a:sym typeface="Poppins"/>
              </a:rPr>
              <a:t>- Optional: LiDAR sensor for precise obstacle detection.</a:t>
            </a:r>
          </a:p>
          <a:p>
            <a:pPr algn="l">
              <a:lnSpc>
                <a:spcPts val="3653"/>
              </a:lnSpc>
            </a:pPr>
            <a:endParaRPr lang="en-US" sz="2485">
              <a:solidFill>
                <a:srgbClr val="000000"/>
              </a:solidFill>
              <a:latin typeface="Poppins"/>
              <a:ea typeface="Poppins"/>
              <a:cs typeface="Poppins"/>
              <a:sym typeface="Poppins"/>
            </a:endParaRPr>
          </a:p>
          <a:p>
            <a:pPr algn="l">
              <a:lnSpc>
                <a:spcPts val="3653"/>
              </a:lnSpc>
            </a:pPr>
            <a:r>
              <a:rPr lang="en-US" sz="2485">
                <a:solidFill>
                  <a:srgbClr val="000000"/>
                </a:solidFill>
                <a:latin typeface="Poppins"/>
                <a:ea typeface="Poppins"/>
                <a:cs typeface="Poppins"/>
                <a:sym typeface="Poppins"/>
              </a:rPr>
              <a:t>2. Processing Layer:</a:t>
            </a:r>
          </a:p>
          <a:p>
            <a:pPr algn="l">
              <a:lnSpc>
                <a:spcPts val="3653"/>
              </a:lnSpc>
            </a:pPr>
            <a:r>
              <a:rPr lang="en-US" sz="2485">
                <a:solidFill>
                  <a:srgbClr val="000000"/>
                </a:solidFill>
                <a:latin typeface="Poppins"/>
                <a:ea typeface="Poppins"/>
                <a:cs typeface="Poppins"/>
                <a:sym typeface="Poppins"/>
              </a:rPr>
              <a:t>- Raspberry Pi 4 for processing image frames using OpenCV.</a:t>
            </a:r>
          </a:p>
          <a:p>
            <a:pPr algn="l">
              <a:lnSpc>
                <a:spcPts val="3653"/>
              </a:lnSpc>
            </a:pPr>
            <a:r>
              <a:rPr lang="en-US" sz="2485">
                <a:solidFill>
                  <a:srgbClr val="000000"/>
                </a:solidFill>
                <a:latin typeface="Poppins"/>
                <a:ea typeface="Poppins"/>
                <a:cs typeface="Poppins"/>
                <a:sym typeface="Poppins"/>
              </a:rPr>
              <a:t>- Object detection using YOLOv8n pre-trained models.</a:t>
            </a:r>
          </a:p>
          <a:p>
            <a:pPr algn="l">
              <a:lnSpc>
                <a:spcPts val="3653"/>
              </a:lnSpc>
            </a:pPr>
            <a:endParaRPr lang="en-US" sz="2485">
              <a:solidFill>
                <a:srgbClr val="000000"/>
              </a:solidFill>
              <a:latin typeface="Poppins"/>
              <a:ea typeface="Poppins"/>
              <a:cs typeface="Poppins"/>
              <a:sym typeface="Poppins"/>
            </a:endParaRPr>
          </a:p>
          <a:p>
            <a:pPr algn="l">
              <a:lnSpc>
                <a:spcPts val="3653"/>
              </a:lnSpc>
            </a:pPr>
            <a:r>
              <a:rPr lang="en-US" sz="2485">
                <a:solidFill>
                  <a:srgbClr val="000000"/>
                </a:solidFill>
                <a:latin typeface="Poppins"/>
                <a:ea typeface="Poppins"/>
                <a:cs typeface="Poppins"/>
                <a:sym typeface="Poppins"/>
              </a:rPr>
              <a:t>3. Output Layer:</a:t>
            </a:r>
          </a:p>
          <a:p>
            <a:pPr algn="l">
              <a:lnSpc>
                <a:spcPts val="3653"/>
              </a:lnSpc>
            </a:pPr>
            <a:r>
              <a:rPr lang="en-US" sz="2485">
                <a:solidFill>
                  <a:srgbClr val="000000"/>
                </a:solidFill>
                <a:latin typeface="Poppins"/>
                <a:ea typeface="Poppins"/>
                <a:cs typeface="Poppins"/>
                <a:sym typeface="Poppins"/>
              </a:rPr>
              <a:t>- Text-to-speech engine for audio feedback on detected obstacles.</a:t>
            </a:r>
          </a:p>
          <a:p>
            <a:pPr algn="l">
              <a:lnSpc>
                <a:spcPts val="3653"/>
              </a:lnSpc>
            </a:pPr>
            <a:endParaRPr lang="en-US" sz="2485">
              <a:solidFill>
                <a:srgbClr val="000000"/>
              </a:solidFill>
              <a:latin typeface="Poppins"/>
              <a:ea typeface="Poppins"/>
              <a:cs typeface="Poppins"/>
              <a:sym typeface="Poppins"/>
            </a:endParaRPr>
          </a:p>
          <a:p>
            <a:pPr algn="l">
              <a:lnSpc>
                <a:spcPts val="3653"/>
              </a:lnSpc>
            </a:pPr>
            <a:r>
              <a:rPr lang="en-US" sz="2485">
                <a:solidFill>
                  <a:srgbClr val="000000"/>
                </a:solidFill>
                <a:latin typeface="Poppins"/>
                <a:ea typeface="Poppins"/>
                <a:cs typeface="Poppins"/>
                <a:sym typeface="Poppins"/>
              </a:rPr>
              <a:t>4. Power Supply:</a:t>
            </a:r>
          </a:p>
          <a:p>
            <a:pPr algn="l">
              <a:lnSpc>
                <a:spcPts val="3653"/>
              </a:lnSpc>
            </a:pPr>
            <a:r>
              <a:rPr lang="en-US" sz="2485">
                <a:solidFill>
                  <a:srgbClr val="000000"/>
                </a:solidFill>
                <a:latin typeface="Poppins"/>
                <a:ea typeface="Poppins"/>
                <a:cs typeface="Poppins"/>
                <a:sym typeface="Poppins"/>
              </a:rPr>
              <a:t>- Battery-powered system for portability.</a:t>
            </a:r>
          </a:p>
          <a:p>
            <a:pPr algn="l">
              <a:lnSpc>
                <a:spcPts val="3653"/>
              </a:lnSpc>
            </a:pPr>
            <a:endParaRPr lang="en-US" sz="2485">
              <a:solidFill>
                <a:srgbClr val="000000"/>
              </a:solidFill>
              <a:latin typeface="Poppins"/>
              <a:ea typeface="Poppins"/>
              <a:cs typeface="Poppins"/>
              <a:sym typeface="Poppins"/>
            </a:endParaRPr>
          </a:p>
          <a:p>
            <a:pPr algn="l">
              <a:lnSpc>
                <a:spcPts val="3653"/>
              </a:lnSpc>
            </a:pPr>
            <a:r>
              <a:rPr lang="en-US" sz="2485">
                <a:solidFill>
                  <a:srgbClr val="000000"/>
                </a:solidFill>
                <a:latin typeface="Poppins"/>
                <a:ea typeface="Poppins"/>
                <a:cs typeface="Poppins"/>
                <a:sym typeface="Poppins"/>
              </a:rPr>
              <a:t>5. Future Enhancements:</a:t>
            </a:r>
          </a:p>
          <a:p>
            <a:pPr algn="l">
              <a:lnSpc>
                <a:spcPts val="3653"/>
              </a:lnSpc>
            </a:pPr>
            <a:r>
              <a:rPr lang="en-US" sz="2485">
                <a:solidFill>
                  <a:srgbClr val="000000"/>
                </a:solidFill>
                <a:latin typeface="Poppins"/>
                <a:ea typeface="Poppins"/>
                <a:cs typeface="Poppins"/>
                <a:sym typeface="Poppins"/>
              </a:rPr>
              <a:t>- Integration of GPS for navigation.</a:t>
            </a:r>
          </a:p>
          <a:p>
            <a:pPr algn="l">
              <a:lnSpc>
                <a:spcPts val="3653"/>
              </a:lnSpc>
            </a:pPr>
            <a:r>
              <a:rPr lang="en-US" sz="2485">
                <a:solidFill>
                  <a:srgbClr val="000000"/>
                </a:solidFill>
                <a:latin typeface="Poppins"/>
                <a:ea typeface="Poppins"/>
                <a:cs typeface="Poppins"/>
                <a:sym typeface="Poppins"/>
              </a:rPr>
              <a:t>- Multi-language support for broader accessibility.</a:t>
            </a:r>
          </a:p>
          <a:p>
            <a:pPr algn="l">
              <a:lnSpc>
                <a:spcPts val="3653"/>
              </a:lnSpc>
            </a:pPr>
            <a:endParaRPr lang="en-US" sz="2485">
              <a:solidFill>
                <a:srgbClr val="000000"/>
              </a:solidFill>
              <a:latin typeface="Poppins"/>
              <a:ea typeface="Poppins"/>
              <a:cs typeface="Poppins"/>
              <a:sym typeface="Poppins"/>
            </a:endParaRPr>
          </a:p>
          <a:p>
            <a:pPr algn="l">
              <a:lnSpc>
                <a:spcPts val="3506"/>
              </a:lnSpc>
            </a:pPr>
            <a:endParaRPr lang="en-US" sz="2485">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9" t="-8955" r="-17748" b="-5246"/>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59665" r="-32642"/>
            </a:stretch>
          </a:blipFill>
        </p:spPr>
      </p:sp>
      <p:grpSp>
        <p:nvGrpSpPr>
          <p:cNvPr id="4" name="Group 4"/>
          <p:cNvGrpSpPr/>
          <p:nvPr/>
        </p:nvGrpSpPr>
        <p:grpSpPr>
          <a:xfrm>
            <a:off x="7846138" y="1087117"/>
            <a:ext cx="9604426" cy="8389072"/>
            <a:chOff x="0" y="0"/>
            <a:chExt cx="1992003" cy="1739933"/>
          </a:xfrm>
        </p:grpSpPr>
        <p:sp>
          <p:nvSpPr>
            <p:cNvPr id="5" name="Freeform 5"/>
            <p:cNvSpPr/>
            <p:nvPr/>
          </p:nvSpPr>
          <p:spPr>
            <a:xfrm>
              <a:off x="0" y="0"/>
              <a:ext cx="1992003" cy="1739933"/>
            </a:xfrm>
            <a:custGeom>
              <a:avLst/>
              <a:gdLst/>
              <a:ahLst/>
              <a:cxnLst/>
              <a:rect l="l" t="t" r="r" b="b"/>
              <a:pathLst>
                <a:path w="1992003" h="1739933">
                  <a:moveTo>
                    <a:pt x="0" y="0"/>
                  </a:moveTo>
                  <a:lnTo>
                    <a:pt x="1992003" y="0"/>
                  </a:lnTo>
                  <a:lnTo>
                    <a:pt x="1992003" y="1739933"/>
                  </a:lnTo>
                  <a:lnTo>
                    <a:pt x="0" y="1739933"/>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6" name="TextBox 6"/>
            <p:cNvSpPr txBox="1"/>
            <p:nvPr/>
          </p:nvSpPr>
          <p:spPr>
            <a:xfrm>
              <a:off x="0" y="9525"/>
              <a:ext cx="1992003" cy="1730408"/>
            </a:xfrm>
            <a:prstGeom prst="rect">
              <a:avLst/>
            </a:prstGeom>
          </p:spPr>
          <p:txBody>
            <a:bodyPr lIns="50800" tIns="50800" rIns="50800" bIns="50800" rtlCol="0" anchor="ctr"/>
            <a:lstStyle/>
            <a:p>
              <a:pPr algn="ctr">
                <a:lnSpc>
                  <a:spcPts val="1869"/>
                </a:lnSpc>
              </a:pPr>
              <a:endParaRPr/>
            </a:p>
          </p:txBody>
        </p:sp>
      </p:grpSp>
      <p:sp>
        <p:nvSpPr>
          <p:cNvPr id="7" name="AutoShape 7"/>
          <p:cNvSpPr/>
          <p:nvPr/>
        </p:nvSpPr>
        <p:spPr>
          <a:xfrm>
            <a:off x="8401192" y="1526217"/>
            <a:ext cx="0" cy="1164590"/>
          </a:xfrm>
          <a:prstGeom prst="line">
            <a:avLst/>
          </a:prstGeom>
          <a:ln w="133350" cap="flat">
            <a:solidFill>
              <a:srgbClr val="D15353"/>
            </a:solidFill>
            <a:prstDash val="solid"/>
            <a:headEnd type="none" w="sm" len="sm"/>
            <a:tailEnd type="none" w="sm" len="sm"/>
          </a:ln>
        </p:spPr>
      </p:sp>
      <p:sp>
        <p:nvSpPr>
          <p:cNvPr id="8" name="TextBox 8"/>
          <p:cNvSpPr txBox="1"/>
          <p:nvPr/>
        </p:nvSpPr>
        <p:spPr>
          <a:xfrm>
            <a:off x="8334517" y="2927668"/>
            <a:ext cx="8627667" cy="6307772"/>
          </a:xfrm>
          <a:prstGeom prst="rect">
            <a:avLst/>
          </a:prstGeom>
        </p:spPr>
        <p:txBody>
          <a:bodyPr lIns="0" tIns="0" rIns="0" bIns="0" rtlCol="0" anchor="t">
            <a:spAutoFit/>
          </a:bodyPr>
          <a:lstStyle/>
          <a:p>
            <a:pPr marL="536555" lvl="1" indent="-268277" algn="l">
              <a:lnSpc>
                <a:spcPts val="3653"/>
              </a:lnSpc>
              <a:buFont typeface="Arial"/>
              <a:buChar char="•"/>
            </a:pPr>
            <a:r>
              <a:rPr lang="en-US" sz="2485">
                <a:solidFill>
                  <a:srgbClr val="000000"/>
                </a:solidFill>
                <a:latin typeface="Poppins"/>
                <a:ea typeface="Poppins"/>
                <a:cs typeface="Poppins"/>
                <a:sym typeface="Poppins"/>
              </a:rPr>
              <a:t>Successfully developed a real-time navigation system for visually impaired individuals using OpenCV and voice feedback.</a:t>
            </a:r>
          </a:p>
          <a:p>
            <a:pPr algn="l">
              <a:lnSpc>
                <a:spcPts val="3506"/>
              </a:lnSpc>
            </a:pPr>
            <a:endParaRPr lang="en-US" sz="2485">
              <a:solidFill>
                <a:srgbClr val="000000"/>
              </a:solidFill>
              <a:latin typeface="Poppins"/>
              <a:ea typeface="Poppins"/>
              <a:cs typeface="Poppins"/>
              <a:sym typeface="Poppins"/>
            </a:endParaRPr>
          </a:p>
          <a:p>
            <a:pPr algn="l">
              <a:lnSpc>
                <a:spcPts val="3506"/>
              </a:lnSpc>
            </a:pPr>
            <a:endParaRPr lang="en-US" sz="2485">
              <a:solidFill>
                <a:srgbClr val="000000"/>
              </a:solidFill>
              <a:latin typeface="Poppins"/>
              <a:ea typeface="Poppins"/>
              <a:cs typeface="Poppins"/>
              <a:sym typeface="Poppins"/>
            </a:endParaRPr>
          </a:p>
          <a:p>
            <a:pPr marL="536553" lvl="1" indent="-268277" algn="l">
              <a:lnSpc>
                <a:spcPts val="3653"/>
              </a:lnSpc>
              <a:buFont typeface="Arial"/>
              <a:buChar char="•"/>
            </a:pPr>
            <a:r>
              <a:rPr lang="en-US" sz="2485">
                <a:solidFill>
                  <a:srgbClr val="000000"/>
                </a:solidFill>
                <a:latin typeface="Poppins"/>
                <a:ea typeface="Poppins"/>
                <a:cs typeface="Poppins"/>
                <a:sym typeface="Poppins"/>
              </a:rPr>
              <a:t>Enhanced mobility and safety by detecting vehicles, speed breakers, and obstacles in various environments.</a:t>
            </a:r>
          </a:p>
          <a:p>
            <a:pPr algn="l">
              <a:lnSpc>
                <a:spcPts val="3506"/>
              </a:lnSpc>
            </a:pPr>
            <a:endParaRPr lang="en-US" sz="2485">
              <a:solidFill>
                <a:srgbClr val="000000"/>
              </a:solidFill>
              <a:latin typeface="Poppins"/>
              <a:ea typeface="Poppins"/>
              <a:cs typeface="Poppins"/>
              <a:sym typeface="Poppins"/>
            </a:endParaRPr>
          </a:p>
          <a:p>
            <a:pPr algn="l">
              <a:lnSpc>
                <a:spcPts val="3506"/>
              </a:lnSpc>
            </a:pPr>
            <a:endParaRPr lang="en-US" sz="2485">
              <a:solidFill>
                <a:srgbClr val="000000"/>
              </a:solidFill>
              <a:latin typeface="Poppins"/>
              <a:ea typeface="Poppins"/>
              <a:cs typeface="Poppins"/>
              <a:sym typeface="Poppins"/>
            </a:endParaRPr>
          </a:p>
          <a:p>
            <a:pPr marL="536553" lvl="1" indent="-268277" algn="l">
              <a:lnSpc>
                <a:spcPts val="3653"/>
              </a:lnSpc>
              <a:buFont typeface="Arial"/>
              <a:buChar char="•"/>
            </a:pPr>
            <a:r>
              <a:rPr lang="en-US" sz="2485">
                <a:solidFill>
                  <a:srgbClr val="000000"/>
                </a:solidFill>
                <a:latin typeface="Poppins"/>
                <a:ea typeface="Poppins"/>
                <a:cs typeface="Poppins"/>
                <a:sym typeface="Poppins"/>
              </a:rPr>
              <a:t>Demonstrated the potential of technology to create practical, scalable solutions for accessibility challenges.</a:t>
            </a:r>
          </a:p>
          <a:p>
            <a:pPr algn="l">
              <a:lnSpc>
                <a:spcPts val="3506"/>
              </a:lnSpc>
            </a:pPr>
            <a:endParaRPr lang="en-US" sz="2485">
              <a:solidFill>
                <a:srgbClr val="000000"/>
              </a:solidFill>
              <a:latin typeface="Poppins"/>
              <a:ea typeface="Poppins"/>
              <a:cs typeface="Poppins"/>
              <a:sym typeface="Poppins"/>
            </a:endParaRPr>
          </a:p>
        </p:txBody>
      </p:sp>
      <p:sp>
        <p:nvSpPr>
          <p:cNvPr id="9" name="TextBox 9"/>
          <p:cNvSpPr txBox="1"/>
          <p:nvPr/>
        </p:nvSpPr>
        <p:spPr>
          <a:xfrm>
            <a:off x="8816525" y="1740212"/>
            <a:ext cx="4870432" cy="784225"/>
          </a:xfrm>
          <a:prstGeom prst="rect">
            <a:avLst/>
          </a:prstGeom>
        </p:spPr>
        <p:txBody>
          <a:bodyPr lIns="0" tIns="0" rIns="0" bIns="0" rtlCol="0" anchor="t">
            <a:spAutoFit/>
          </a:bodyPr>
          <a:lstStyle/>
          <a:p>
            <a:pPr algn="l">
              <a:lnSpc>
                <a:spcPts val="6049"/>
              </a:lnSpc>
            </a:pPr>
            <a:r>
              <a:rPr lang="en-US" sz="5499" b="1">
                <a:solidFill>
                  <a:srgbClr val="000000"/>
                </a:solidFill>
                <a:latin typeface="Glacial Indifference Bold"/>
                <a:ea typeface="Glacial Indifference Bold"/>
                <a:cs typeface="Glacial Indifference Bold"/>
                <a:sym typeface="Glacial Indifference Bold"/>
              </a:rPr>
              <a:t>CONCLUSION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7192625" y="4355460"/>
            <a:ext cx="0" cy="1576081"/>
          </a:xfrm>
          <a:prstGeom prst="line">
            <a:avLst/>
          </a:prstGeom>
          <a:ln w="133350" cap="flat">
            <a:solidFill>
              <a:srgbClr val="D15353"/>
            </a:solidFill>
            <a:prstDash val="solid"/>
            <a:headEnd type="none" w="sm" len="sm"/>
            <a:tailEnd type="none" w="sm" len="sm"/>
          </a:ln>
        </p:spPr>
      </p:sp>
      <p:sp>
        <p:nvSpPr>
          <p:cNvPr id="3" name="Freeform 3"/>
          <p:cNvSpPr/>
          <p:nvPr/>
        </p:nvSpPr>
        <p:spPr>
          <a:xfrm rot="-4397829" flipV="1">
            <a:off x="-4697129" y="-1512169"/>
            <a:ext cx="16435483" cy="9801524"/>
          </a:xfrm>
          <a:custGeom>
            <a:avLst/>
            <a:gdLst/>
            <a:ahLst/>
            <a:cxnLst/>
            <a:rect l="l" t="t" r="r" b="b"/>
            <a:pathLst>
              <a:path w="16435483" h="9801524">
                <a:moveTo>
                  <a:pt x="0" y="9801524"/>
                </a:moveTo>
                <a:lnTo>
                  <a:pt x="16435483" y="9801524"/>
                </a:lnTo>
                <a:lnTo>
                  <a:pt x="16435483" y="0"/>
                </a:lnTo>
                <a:lnTo>
                  <a:pt x="0" y="0"/>
                </a:lnTo>
                <a:lnTo>
                  <a:pt x="0" y="98015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7737783" y="4441185"/>
            <a:ext cx="8995754" cy="1490356"/>
          </a:xfrm>
          <a:prstGeom prst="rect">
            <a:avLst/>
          </a:prstGeom>
        </p:spPr>
        <p:txBody>
          <a:bodyPr lIns="0" tIns="0" rIns="0" bIns="0" rtlCol="0" anchor="t">
            <a:spAutoFit/>
          </a:bodyPr>
          <a:lstStyle/>
          <a:p>
            <a:pPr algn="r">
              <a:lnSpc>
                <a:spcPts val="11446"/>
              </a:lnSpc>
            </a:pPr>
            <a:r>
              <a:rPr lang="en-US" sz="10406" b="1" spc="416">
                <a:solidFill>
                  <a:srgbClr val="253439"/>
                </a:solidFill>
                <a:latin typeface="Aileron Bold"/>
                <a:ea typeface="Aileron Bold"/>
                <a:cs typeface="Aileron Bold"/>
                <a:sym typeface="Ailer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1616</Words>
  <Application>Microsoft Office PowerPoint</Application>
  <PresentationFormat>Custom</PresentationFormat>
  <Paragraphs>166</Paragraphs>
  <Slides>20</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vt:i4>
      </vt:variant>
    </vt:vector>
  </HeadingPairs>
  <TitlesOfParts>
    <vt:vector size="34" baseType="lpstr">
      <vt:lpstr>Alata</vt:lpstr>
      <vt:lpstr>Agrandir</vt:lpstr>
      <vt:lpstr>Aileron Bold</vt:lpstr>
      <vt:lpstr>Calibri</vt:lpstr>
      <vt:lpstr>Gagalin</vt:lpstr>
      <vt:lpstr>Agrandir Bold</vt:lpstr>
      <vt:lpstr>Glacial Indifference</vt:lpstr>
      <vt:lpstr>HK Grotesk</vt:lpstr>
      <vt:lpstr>Poppins Bold</vt:lpstr>
      <vt:lpstr>Glacial Indifference Bold</vt:lpstr>
      <vt:lpstr>Arial</vt:lpstr>
      <vt:lpstr>Poppins</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Marg Darshak</dc:title>
  <cp:lastModifiedBy>Rudra Trivedi</cp:lastModifiedBy>
  <cp:revision>3</cp:revision>
  <dcterms:created xsi:type="dcterms:W3CDTF">2006-08-16T00:00:00Z</dcterms:created>
  <dcterms:modified xsi:type="dcterms:W3CDTF">2024-12-26T06:59:39Z</dcterms:modified>
  <dc:identifier>DAGX9gd_jNM</dc:identifier>
</cp:coreProperties>
</file>